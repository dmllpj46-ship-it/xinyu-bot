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1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'#FBF7F2', padding: 0, position: 'relative', fontFamily: &quot;'Noto Sans SC', system-ui, sans-serif&quot; }}&gt;&#10;&#10;    {/* ── L1 主视觉：右侧同心弧结构（占 62%，全幅出血） ── */}&#10;    &lt;Box style={{ position: 'absolute', top: 0, right: 0, width: 800, height: 720 }}&gt;&#10;        &lt;svg width={800} height={720} viewBox='0 0 800 720'&gt;&#10;            &lt;g fill='none' stroke='#6E7C8C'&gt;&#10;                &lt;circle cx='880' cy='360' r='640' strokeWidth='1.5' opacity='0.09' /&gt;&#10;                &lt;circle cx='880' cy='360' r='530' strokeWidth='1.5' opacity='0.13' /&gt;&#10;                &lt;circle cx='880' cy='360' r='420' strokeWidth='1.5' opacity='0.17' /&gt;&#10;                &lt;circle cx='880' cy='360' r='310' strokeWidth='1.5' opacity='0.22' /&gt;&#10;                &lt;circle cx='880' cy='360' r='200' strokeWidth='3' opacity='0.30' /&gt;&#10;            &lt;/g&gt;&#10;            &lt;g fill='#6E7C8C'&gt;&#10;                &lt;circle cx='700' cy='183' r='6' opacity='0.40' /&gt;&#10;                &lt;circle cx='563' cy='332' r='6' opacity='0.50' /&gt;&#10;                &lt;circle cx='601' cy='520' r='6' opacity='0.40' /&gt;&#10;                &lt;circle cx='742' cy='560' r='6' opacity='0.35' /&gt;&#10;            &lt;/g&gt;&#10;            &lt;circle cx='680' cy='360' r='11' fill='#C0765C' /&gt;&#10;            &lt;circle cx='680' cy='360' r='24' fill='none' stroke='#C0765C' strokeWidth='1.5' opacity='0.42' /&gt;&#10;            &lt;text x='680' y='410' fill='#C0765C' fontFamily=&quot;'Noto Sans SC', sans-serif&quot; fontSize='13' textAnchor='middle' opacity='0.8'&gt;唯一允许的确定性出口&lt;/text&gt;&#10;        &lt;/svg&gt;&#10;    &lt;/Box&gt;&#10;&#10;    {/* ── 左侧文字（骑入画面，不居中） ── */}&#10;    &lt;Box style={{ position: 'absolute', left: 96, top: 0, width: 486, height: 720, justifyContent: 'center' }}&gt;&#10;&#10;        &lt;Text style={{ fontSize: 15, letterSpacing: '0.14em', color: '#6E7C8C', marginBottom: 22 }}&gt;&#10;            技术评审 · 架构复盘 · 2026-10&#10;        &lt;/Text&gt;&#10;&#10;        &lt;Text style={{ fontSize: 76, fontWeight: 'bold', fontFamily: &quot;'Noto Serif SC', Georgia, serif&quot;, color: '#2E2A27', lineHeight: 1.15, letterSpacing: '0.02em' }}&gt;&#10;            心屿&#10;        &lt;/Text&gt;&#10;&#10;        &lt;Box style={{ width: 52, height: 3, background: '#C0765C', marginTop: 26, marginBottom: 26 }} /&gt;&#10;&#10;        &lt;Text style={{ fontSize: 26, color: '#2E2A27', lineHeight: 1.5, fontFamily: &quot;'Noto Serif SC', Georgia, serif&quot; }}&gt;&#10;            一个会主动闭嘴的&lt;br /&gt;心理陪练 Bot&#10;        &lt;/Text&gt;&#10;&#10;        &lt;Text style={{ fontSize: 17, color: 'rgba(46,42,39,0.62)', lineHeight: 1.75, marginTop: 20 }}&gt;&#10;            危机路径调用模型 &lt;span style={{ color: '#C0765C', fontWeight: 'bold' }}&gt;0&lt;/span&gt; 次&lt;br /&gt;&#10;            116 条测试锁住红线 · 同一套业务跑在两个运行时上&#10;        &lt;/Text&gt;&#10;&#10;    &lt;/Box&gt;&#10;&#10;    {/* ── 页码（封面保留，14px） ── */}&#10;    &lt;Text style={{ position: 'absolute', right: 72, bottom: 40, fontSize: 14, color: 'rgba(46,42,39,0.45)', letterSpacing: '0.04em' }}&gt;&#10;        01 / 10&#10;  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72000" y="0"/>
            <a:ext cx="76200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159067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技术评审</a:t>
            </a: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架构复盘</a:t>
            </a: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 xml:space="preserve"> · 2026-10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971675"/>
            <a:ext cx="462915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700" b="1">
                <a:solidFill>
                  <a:srgbClr val="2E2A27"/>
                </a:solidFill>
                <a:latin typeface="Noto Serif SC"/>
                <a:ea typeface="Noto Serif SC"/>
              </a:rPr>
              <a:t>心屿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3219450"/>
            <a:ext cx="495300" cy="28575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3495675"/>
            <a:ext cx="462915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2E2A27"/>
                </a:solidFill>
                <a:latin typeface="Noto Serif SC"/>
                <a:ea typeface="Noto Serif SC"/>
              </a:rPr>
              <a:t>一个会主动闭嘴的</a:t>
            </a:r>
            <a:endParaRPr/>
          </a:p>
          <a:p>
            <a:pPr>
              <a:lnSpc>
                <a:spcPct val="150000"/>
              </a:lnSpc>
            </a:pPr>
            <a:r>
              <a:rPr lang="zh-CN" sz="1950">
                <a:solidFill>
                  <a:srgbClr val="2E2A27"/>
                </a:solidFill>
                <a:latin typeface="Noto Serif SC"/>
                <a:ea typeface="Noto Serif SC"/>
              </a:rPr>
              <a:t>心理陪练</a:t>
            </a:r>
            <a:r>
              <a:rPr lang="en-US" sz="1950">
                <a:solidFill>
                  <a:srgbClr val="2E2A27"/>
                </a:solidFill>
                <a:latin typeface="Noto Serif SC"/>
                <a:ea typeface="Noto Serif SC"/>
              </a:rPr>
              <a:t xml:space="preserve"> Bot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581525"/>
            <a:ext cx="4629150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危机路径调用模型</a:t>
            </a:r>
            <a:r>
              <a:rPr lang="en-US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en-US" sz="1275" b="1">
                <a:solidFill>
                  <a:srgbClr val="C0765C"/>
                </a:solidFill>
                <a:latin typeface="Noto Sans SC"/>
                <a:ea typeface="Noto Sans SC"/>
              </a:rPr>
              <a:t>0</a:t>
            </a:r>
            <a:r>
              <a:rPr lang="en-US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次</a:t>
            </a:r>
            <a:endParaRPr/>
          </a:p>
          <a:p>
            <a:pPr>
              <a:lnSpc>
                <a:spcPct val="175000"/>
              </a:lnSpc>
            </a:pPr>
            <a:r>
              <a:rPr lang="en-US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116 </a:t>
            </a:r>
            <a:r>
              <a:rPr lang="zh-CN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条测试锁住红线</a:t>
            </a:r>
            <a:r>
              <a:rPr lang="en-US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同一套业务跑在两个运行时上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01 / 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三个约束，决定了全部选型&#13;&#10;        &lt;/Text&gt;&#13;&#10;    &lt;/Box&gt;&#13;&#10;&#13;&#10;    {/* ── B 区 · 左栏（32%）+ 右栏 ── */}&#13;&#10;    &lt;Box style={{ position: 'absolute', left: 72, top: 132, width: 1136, height: 516, flexDirection: 'row', gap: 36 }}&gt;&#13;&#10;&#13;&#10;        {/* 左栏：结论先行 */}&#13;&#10;        &lt;Box style={{ width: 320, background: 'rgba(110,124,140,0.10)', padding: 32, justifyContent: 'space-between' }}&gt;&#13;&#10;            &lt;Box&gt;&#13;&#10;                &lt;Text style={{ fontSize: 13, letterSpacing: '0.16em', color: '#6E7C8C', marginBottom: 26 }}&gt;&#13;&#10;                    CONSTRAINT&#13;&#10;                &lt;/Text&gt;&#13;&#10;                &lt;Text style={{ fontSize: 30, fontWeight: 'bold', fontFamily: &quot;'Noto Serif SC', Georgia, serif&quot;, color: '#2E2A27', lineHeight: 1.45 }}&gt;&#13;&#10;                    选型空间&lt;br /&gt;被压到&lt;br /&gt;只剩一条路&#13;&#10;                &lt;/Text&gt;&#13;&#10;                &lt;Box style={{ width: 44, height: 3, background: '#C0765C', marginTop: 24, marginBottom: 24 }} /&gt;&#13;&#10;            &lt;/Box&gt;&#13;&#10;            &lt;Text style={{ fontSize: 15, color: 'rgba(46,42,39,0.62)', lineHeight: 1.85 }}&gt;&#13;&#10;                约束不是限制，是设计工具。&lt;br /&gt;&#13;&#10;                它把「选什么」变成「什么不能选」。&#13;&#10;            &lt;/Text&gt;&#13;&#10;        &lt;/Box&gt;&#13;&#10;&#13;&#10;        {/* 右栏：三条约束 */}&#13;&#10;        &lt;Box style={{ flex: 1, justifyContent: 'space-between' }}&gt;&#13;&#10;&#13;&#10;            &lt;Box style={{ flexDirection: 'row', gap: 22 }}&gt;&#13;&#10;                &lt;Text style={{ width: 52, fontSize: 30, fontWeight: 'bold', fontFamily: &quot;'Noto Serif SC', Georgia, serif&quot;, color: '#C0765C', lineHeight: 1.1 }}&gt;&#13;&#10;                    01&#13;&#10;                &lt;/Text&gt;&#13;&#10;                &lt;Box style={{ flex: 1 }}&gt;&#13;&#10;                    &lt;Text style={{ fontSize: 24, fontWeight: 'bold', color: '#2E2A27', lineHeight: 1.4 }}&gt;&#13;&#10;                        不引框架，不引构建&#13;&#10;                    &lt;/Text&gt;&#13;&#10;                    &lt;Text style={{ fontSize: 16, color: '#6E7C8C', lineHeight: 1.5, marginTop: 7 }}&gt;&#13;&#10;                        排除 React / Vue / Tailwind 运行时 / 任何构建流程&#13;&#10;                    &lt;/Text&gt;&#13;&#10;                    &lt;Text style={{ fontSize: 18, color: 'rgba(46,42,39,0.82)', lineHeight: 1.65, marginTop: 9 }}&gt;&#13;&#10;                        前端是原生 HTML / CSS / JS。daisyUI 只取 10 个组件的预编译 CSS，&lt;span style={{ color: '#C0765C', fontWeight: 'bold' }}&gt;199 KB、gzip 后 14 KB&lt;/span&gt;，没有运行时。&#13;&#10;                    &lt;/Text&gt;&#13;&#10;                &lt;/Box&gt;&#13;&#10;            &lt;/Box&gt;&#13;&#10;&#13;&#10;            &lt;Box style={{ height: 1, background: 'rgba(46,42,39,0.12)' }} /&gt;&#13;&#10;&#13;&#10;            &lt;Box style={{ flexDirection: 'row', gap: 22 }}&gt;&#13;&#10;                &lt;Text style={{ width: 52, fontSize: 30, fontWeight: 'bold', fontFamily: &quot;'Noto Serif SC', Georgia, serif&quot;, color: '#C0765C', lineHeight: 1.1 }}&gt;&#13;&#10;                    02&#13;&#10;                &lt;/Text&gt;&#13;&#10;                &lt;Box style={{ flex: 1 }}&gt;&#13;&#10;                    &lt;Text style={{ fontSize: 24, fontWeight: 'bold', color: '#2E2A27', lineHeight: 1.4 }}&gt;&#13;&#10;                        离线可用&#13;&#10;                    &lt;/Text&gt;&#13;&#10;                    &lt;Text style={{ fontSize: 16, color: '#6E7C8C', lineHeight: 1.5, marginTop: 7 }}&gt;&#13;&#10;                        排除一切 CDN、网络字体、图标库&#13;&#10;                    &lt;/Text&gt;&#13;&#10;                    &lt;Text style={{ fontSize: 18, color: 'rgba(46,42,39,0.82)', lineHeight: 1.6, marginTop: 9 }}&gt;&#13;&#10;                        依赖全部落地到 vendor/，字体用系统字体。断网时页面照常打开，只是回复会降级。&#13;&#10;                    &lt;/Text&gt;&#13;&#10;                &lt;/Box&gt;&#13;&#10;            &lt;/Box&gt;&#13;&#10;&#13;&#10;            &lt;Box style={{ height: 1, background: 'rgba(46,42,39,0.12)' }} /&gt;&#13;&#10;&#13;&#10;            &lt;Box style={{ flexDirection: 'row', gap: 22 }}&gt;&#13;&#10;                &lt;Text style={{ width: 52, fontSize: 30, fontWeight: 'bold', fontFamily: &quot;'Noto Serif SC', Georgia, serif&quot;, color: '#C0765C', lineHeight: 1.1 }}&gt;&#13;&#10;                    03&#13;&#10;                &lt;/Text&gt;&#13;&#10;                &lt;Box style={{ flex: 1 }}&gt;&#13;&#10;                    &lt;Text style={{ fontSize: 24, fontWeight: 'bold', color: '#2E2A27', lineHeight: 1.4 }}&gt;&#13;&#10;                        一个人能完整读懂&#13;&#10;                    &lt;/Text&gt;&#13;&#10;                    &lt;Text style={{ fontSize: 16, color: '#6E7C8C', lineHeight: 1.5, marginTop: 7 }}&gt;&#13;&#10;                        排除 LangChain / LlamaIndex / 任何向量数据库&#13;&#10;                    &lt;/Text&gt;&#13;&#10;                    &lt;Text style={{ fontSize: 18, color: 'rgba(46,42,39,0.82)', lineHeight: 1.6, marginTop: 9 }}&gt;&#13;&#10;                        检索自己写，120 行 BM25。每加一层抽象就多一层排查成本，而这条链路出事要人命。&#13;&#10;                    &lt;/Text&gt;&#13;&#10;                &lt;/Box&gt;&#13;&#10;            &lt;/Box&gt;&#13;&#10;&#13;&#10;        &lt;/Box&gt;&#13;&#10;    &lt;/Box&gt;&#13;&#10;&#13;&#10;    {/* ── C 区 · 页脚条 ── */}&#13;&#10;    &lt;Box style={{ position: 'absolute', left: 72, bottom: 22, flexDirection: 'row', alignItems: 'center', gap: 8 }}&gt;&#13;&#10;        &lt;Box style={{ width: 6, height: 6, borderRadius: 3, background: '#C0765C' }} /&gt;&#13;&#10;        &lt;Text style={{ fontSize: 14, color: 'rgba(46,42,39,0.45)', letterSpacing: '0.04em' }}&gt;心屿 · 技术分析&lt;/Text&gt;&#13;&#10;    &lt;/Box&gt;&#13;&#10;    &lt;Text style={{ position: 'absolute', right: 72, bottom: 22, fontSize: 14, color: 'rgba(46,42,39,0.45)', letterSpacing: '0.04em' }}&gt;&#13;&#10;        02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4114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三个约束，决定了全部选型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85800" y="1257300"/>
            <a:ext cx="3048000" cy="4914900"/>
          </a:xfrm>
          <a:prstGeom prst="rect">
            <a:avLst/>
          </a:prstGeom>
          <a:solidFill>
            <a:srgbClr val="6E7C8C">
              <a:alpha val="10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90600" y="1562100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7C8C"/>
                </a:solidFill>
                <a:latin typeface="Noto Sans SC"/>
                <a:ea typeface="Noto Sans SC"/>
              </a:rPr>
              <a:t>CONSTRAINT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90600" y="1962150"/>
            <a:ext cx="2438400" cy="1495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2E2A27"/>
                </a:solidFill>
                <a:latin typeface="Noto Serif SC"/>
                <a:ea typeface="Noto Serif SC"/>
              </a:rPr>
              <a:t>选型空间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2E2A27"/>
                </a:solidFill>
                <a:latin typeface="Noto Serif SC"/>
                <a:ea typeface="Noto Serif SC"/>
              </a:rPr>
              <a:t>被压到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2E2A27"/>
                </a:solidFill>
                <a:latin typeface="Noto Serif SC"/>
                <a:ea typeface="Noto Serif SC"/>
              </a:rPr>
              <a:t>只剩一条路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990600" y="3686175"/>
            <a:ext cx="419100" cy="28575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90600" y="5229225"/>
            <a:ext cx="2438400" cy="6381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约束不是限制，是设计工具。</a:t>
            </a:r>
            <a:endParaRPr/>
          </a:p>
          <a:p>
            <a:pPr>
              <a:lnSpc>
                <a:spcPct val="18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它把「选什么」变成「什么不能选」。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076700" y="1257300"/>
            <a:ext cx="495300" cy="15049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C0765C"/>
                </a:solidFill>
                <a:latin typeface="Noto Serif SC"/>
                <a:ea typeface="Noto Serif SC"/>
              </a:rPr>
              <a:t>01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781550" y="1257300"/>
            <a:ext cx="67246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E2A27"/>
                </a:solidFill>
                <a:latin typeface="Noto Sans SC"/>
                <a:ea typeface="Noto Sans SC"/>
              </a:rPr>
              <a:t>不引框架，不引构建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781550" y="1714500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排除</a:t>
            </a:r>
            <a:r>
              <a:rPr lang="en-US" sz="1200">
                <a:solidFill>
                  <a:srgbClr val="6E7C8C"/>
                </a:solidFill>
                <a:latin typeface="Noto Sans SC"/>
                <a:ea typeface="Noto Sans SC"/>
              </a:rPr>
              <a:t xml:space="preserve"> React / Vue / Tailwind </a:t>
            </a: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运行时</a:t>
            </a:r>
            <a:r>
              <a:rPr lang="en-US" sz="1200">
                <a:solidFill>
                  <a:srgbClr val="6E7C8C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任何构建流程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781550" y="2076450"/>
            <a:ext cx="67246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前端是原生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HTML / CSS / JS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。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daisyUI 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只取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10 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个组件的预编译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CSS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，</a:t>
            </a:r>
            <a:r>
              <a:rPr lang="en-US" sz="1350" b="1">
                <a:solidFill>
                  <a:srgbClr val="C0765C"/>
                </a:solidFill>
                <a:latin typeface="Noto Sans SC"/>
                <a:ea typeface="Noto Sans SC"/>
              </a:rPr>
              <a:t>199 KB</a:t>
            </a:r>
            <a:r>
              <a:rPr lang="zh-CN" sz="1350" b="1">
                <a:solidFill>
                  <a:srgbClr val="C0765C"/>
                </a:solidFill>
                <a:latin typeface="Noto Sans SC"/>
                <a:ea typeface="Noto Sans SC"/>
              </a:rPr>
              <a:t>、</a:t>
            </a:r>
            <a:r>
              <a:rPr lang="en-US" sz="1350" b="1">
                <a:solidFill>
                  <a:srgbClr val="C0765C"/>
                </a:solidFill>
                <a:latin typeface="Noto Sans SC"/>
                <a:ea typeface="Noto Sans SC"/>
              </a:rPr>
              <a:t xml:space="preserve">gzip </a:t>
            </a:r>
            <a:r>
              <a:rPr lang="zh-CN" sz="1350" b="1">
                <a:solidFill>
                  <a:srgbClr val="C0765C"/>
                </a:solidFill>
                <a:latin typeface="Noto Sans SC"/>
                <a:ea typeface="Noto Sans SC"/>
              </a:rPr>
              <a:t>后</a:t>
            </a:r>
            <a:r>
              <a:rPr lang="en-US" sz="1350" b="1">
                <a:solidFill>
                  <a:srgbClr val="C0765C"/>
                </a:solidFill>
                <a:latin typeface="Noto Sans SC"/>
                <a:ea typeface="Noto Sans SC"/>
              </a:rPr>
              <a:t xml:space="preserve"> 14 KB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，没有运行时。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076700" y="3038475"/>
            <a:ext cx="7429500" cy="9525"/>
          </a:xfrm>
          <a:prstGeom prst="rect">
            <a:avLst/>
          </a:pr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076700" y="3314700"/>
            <a:ext cx="495300" cy="11525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C0765C"/>
                </a:solidFill>
                <a:latin typeface="Noto Serif SC"/>
                <a:ea typeface="Noto Serif SC"/>
              </a:rPr>
              <a:t>02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781550" y="3314700"/>
            <a:ext cx="67246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E2A27"/>
                </a:solidFill>
                <a:latin typeface="Noto Sans SC"/>
                <a:ea typeface="Noto Sans SC"/>
              </a:rPr>
              <a:t>离线可用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781550" y="3771900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排除一切</a:t>
            </a:r>
            <a:r>
              <a:rPr lang="en-US" sz="1200">
                <a:solidFill>
                  <a:srgbClr val="6E7C8C"/>
                </a:solidFill>
                <a:latin typeface="Noto Sans SC"/>
                <a:ea typeface="Noto Sans SC"/>
              </a:rPr>
              <a:t xml:space="preserve"> CDN</a:t>
            </a: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、网络字体、图标库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781550" y="4133850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依赖全部落地到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vendor/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，字体用系统字体。断网时页面照常打开，只是回复会降级。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076700" y="4743450"/>
            <a:ext cx="7429500" cy="9525"/>
          </a:xfrm>
          <a:prstGeom prst="rect">
            <a:avLst/>
          </a:pr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076700" y="5019675"/>
            <a:ext cx="495300" cy="11525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C0765C"/>
                </a:solidFill>
                <a:latin typeface="Noto Serif SC"/>
                <a:ea typeface="Noto Serif SC"/>
              </a:rPr>
              <a:t>03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781550" y="5019675"/>
            <a:ext cx="67246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E2A27"/>
                </a:solidFill>
                <a:latin typeface="Noto Sans SC"/>
                <a:ea typeface="Noto Sans SC"/>
              </a:rPr>
              <a:t>一个人能完整读懂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781550" y="5476875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排除</a:t>
            </a:r>
            <a:r>
              <a:rPr lang="en-US" sz="1200">
                <a:solidFill>
                  <a:srgbClr val="6E7C8C"/>
                </a:solidFill>
                <a:latin typeface="Noto Sans SC"/>
                <a:ea typeface="Noto Sans SC"/>
              </a:rPr>
              <a:t xml:space="preserve"> LangChain / LlamaIndex / </a:t>
            </a:r>
            <a:r>
              <a:rPr lang="zh-CN" sz="1200">
                <a:solidFill>
                  <a:srgbClr val="6E7C8C"/>
                </a:solidFill>
                <a:latin typeface="Noto Sans SC"/>
                <a:ea typeface="Noto Sans SC"/>
              </a:rPr>
              <a:t>任何向量数据库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781550" y="5838825"/>
            <a:ext cx="67246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检索自己写，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120 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行</a:t>
            </a:r>
            <a:r>
              <a:rPr lang="en-US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BM25</a:t>
            </a:r>
            <a:r>
              <a:rPr lang="zh-CN" sz="135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。每加一层抽象就多一层排查成本，而这条链路出事要人命。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6543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6486525"/>
            <a:ext cx="1000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心屿</a:t>
            </a: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技术分析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一套业务，两个运行时&#13;&#10;        &lt;/Text&gt;&#13;&#10;    &lt;/Box&gt;&#13;&#10;&#13;&#10;    {/* ── B 区上 · 架构图（占 48%） ── */}&#13;&#10;    &lt;Box style={{ position: 'absolute', left: 72, top: 130, width: 1136, height: 258 }}&gt;&#13;&#10;&#13;&#10;        {/* 连线层（纯线条，无文字） */}&#13;&#10;        &lt;svg width={1136} height={258} viewBox='0 0 1136 258' style={{ position: 'absolute', top: 0, left: 0 }}&gt;&#13;&#10;            &lt;g fill='none' stroke='#6E7C8C' strokeWidth='1.5' opacity='0.45'&gt;&#13;&#10;                &lt;path d='M170 130 L215 130' /&gt;&#13;&#10;                &lt;path d='M215 78 L215 182' /&gt;&#13;&#10;                &lt;path d='M215 78 L240 78' /&gt;&#13;&#10;                &lt;path d='M215 182 L240 182' /&gt;&#13;&#10;                &lt;path d='M660 78 L700 78 L700 130' /&gt;&#13;&#10;                &lt;path d='M660 182 L700 182 L700 130' /&gt;&#13;&#10;                &lt;path d='M700 130 L730 130' /&gt;&#13;&#10;            &lt;/g&gt;&#13;&#10;            &lt;g fill='none' stroke='#C0765C' strokeWidth='3' opacity='0.85'&gt;&#13;&#10;                &lt;path d='M900 130 L966 130' /&gt;&#13;&#10;            &lt;/g&gt;&#13;&#10;            &lt;path d='M958 124 L968 130 L958 136' fill='none' stroke='#C0765C' strokeWidth='3' /&gt;&#13;&#10;        &lt;/svg&gt;&#13;&#10;&#13;&#10;        {/* 浏览器（共用，唯一用陶土描边的节点） */}&#13;&#10;        &lt;Box style={{ position: 'absolute', left: 0, top: 66, width: 170, height: 128, background: 'rgba(192,118,92,0.10)', border: '2px solid #C0765C', borderRadius: 6, padding: 16, justifyContent: 'center' }}&gt;&#13;&#10;            &lt;Text style={{ fontSize: 20, fontWeight: 'bold', color: '#2E2A27', lineHeight: 1.35 }}&gt;浏览器&lt;/Text&gt;&#13;&#10;            &lt;Text style={{ fontSize: 14, color: '#C0765C', marginTop: 4, lineHeight: 1.5 }}&gt;web/ · 单页无构建&lt;/Text&gt;&#13;&#10;            &lt;Text style={{ fontSize: 13, color: 'rgba(46,42,39,0.58)', marginTop: 8, lineHeight: 1.55 }}&gt;两个运行时&lt;br /&gt;共用同一份&lt;/Text&gt;&#13;&#10;        &lt;/Box&gt;&#13;&#10;&#13;&#10;        {/* 两个运行时 */}&#13;&#10;        &lt;Box style={{ position: 'absolute', left: 240, top: 36, width: 420, height: 84, background: 'rgba(110,124,140,0.10)', border: '1.5px solid rgba(110,124,140,0.55)', borderRadius: 6, padding: 15, justifyContent: 'center' }}&gt;&#13;&#10;            &lt;Text style={{ fontSize: 19, fontWeight: 'bold', color: '#2E2A27', lineHeight: 1.35 }}&gt;本地版 · FastAPI&lt;/Text&gt;&#13;&#10;            &lt;Text style={{ fontSize: 14, color: 'rgba(46,42,39,0.62)', marginTop: 5, lineHeight: 1.5 }}&gt;app/main.py · Python 3.13 · openai-agents 0.24&lt;/Text&gt;&#13;&#10;        &lt;/Box&gt;&#13;&#10;&#13;&#10;        &lt;Box style={{ position: 'absolute', left: 240, top: 140, width: 420, height: 84, background: 'rgba(110,124,140,0.10)', border: '1.5px solid rgba(110,124,140,0.55)', borderRadius: 6, padding: 15, justifyContent: 'center' }}&gt;&#13;&#10;            &lt;Text style={{ fontSize: 19, fontWeight: 'bold', color: '#2E2A27', lineHeight: 1.35 }}&gt;生产版 · Cloudflare Worker&lt;/Text&gt;&#13;&#10;            &lt;Text style={{ fontSize: 14, color: 'rgba(46,42,39,0.62)', marginTop: 5, lineHeight: 1.5 }}&gt;worker/src/index.ts · TypeScript · @openai/agents 0.21&lt;/Text&gt;&#13;&#10;        &lt;/Box&gt;&#13;&#10;&#13;&#10;        {/* 模型 */}&#13;&#10;        &lt;Box style={{ position: 'absolute', left: 730, top: 66, width: 170, height: 128, background: 'rgba(110,124,140,0.16)', border: '1.5px solid rgba(110,124,140,0.55)', borderRadius: 6, padding: 16, justifyContent: 'center' }}&gt;&#13;&#10;            &lt;Text style={{ fontSize: 20, fontWeight: 'bold', color: '#2E2A27', lineHeight: 1.35 }}&gt;Mercury 3&lt;/Text&gt;&#13;&#10;            &lt;Text style={{ fontSize: 14, color: 'rgba(46,42,39,0.62)', marginTop: 4, lineHeight: 1.5 }}&gt;Chat Completions&lt;/Text&gt;&#13;&#10;            &lt;Text style={{ fontSize: 13, color: 'rgba(46,42,39,0.55)', marginTop: 8, lineHeight: 1.55 }}&gt;1M 上下文&lt;br /&gt;纯文本 · 块式流式&lt;/Text&gt;&#13;&#10;        &lt;/Box&gt;&#13;&#10;&#13;&#10;        {/* 工具 */}&#13;&#10;        &lt;Box style={{ position: 'absolute', left: 970, top: 66, width: 166, height: 128, background: 'rgba(110,124,140,0.10)', border: '1.5px solid rgba(110,124,140,0.55)', borderRadius: 6, padding: 16, justifyContent: 'center' }}&gt;&#13;&#10;            &lt;Text style={{ fontSize: 20, fontWeight: 'bold', color: '#2E2A27', lineHeight: 1.35 }}&gt;三个工具&lt;/Text&gt;&#13;&#10;            &lt;Text style={{ fontSize: 13, color: 'rgba(46,42,39,0.62)', marginTop: 6, lineHeight: 1.7 }}&gt;kb_search&lt;br /&gt;web_search&lt;br /&gt;crisis_resources&lt;/Text&gt;&#13;&#10;        &lt;/Box&gt;&#13;&#10;&#13;&#10;    &lt;/Box&gt;&#13;&#10;&#13;&#10;    {/* ── B 区下 · 两张不等宽卡片 ── */}&#13;&#10;    &lt;Box style={{ position: 'absolute', left: 72, top: 410, width: 1136, height: 228, flexDirection: 'row', gap: 28 }}&gt;&#13;&#10;&#13;&#10;        &lt;Box style={{ width: 636, background: 'rgba(110,124,140,0.07)', padding: 26, justifyContent: 'space-between' }}&gt;&#13;&#10;            &lt;Box&gt;&#13;&#10;                &lt;Text style={{ fontSize: 12, letterSpacing: '0.16em', color: '#6E7C8C', marginBottom: 10 }}&gt;SHARED · 一份&lt;/Text&gt;&#13;&#10;                &lt;Text style={{ fontSize: 23, fontWeight: 'bold', fontFamily: &quot;'Noto Serif SC', Georgia, serif&quot;, color: '#2E2A27', lineHeight: 1.4 }}&gt;&#13;&#10;                    前端、提示词、知识库&#13;&#10;                &lt;/Text&gt;&#13;&#10;                &lt;Text style={{ fontSize: 17, color: 'rgba(46,42,39,0.80)', lineHeight: 1.7, marginTop: 12 }}&gt;&#13;&#10;                    web/ 的 HTML / CSS / JS 只有一份；system.md 与 knowledge/ 也只有一份。改文案、改语气、加一篇文档，只改一处，两个运行时同时生效。&#13;&#10;                &lt;/Text&gt;&#13;&#10;            &lt;/Box&gt;&#13;&#10;            &lt;Text style={{ fontSize: 15, color: '#6E7C8C', marginTop: 14 }}&gt;改动成本：1 次&lt;/Text&gt;&#13;&#10;        &lt;/Box&gt;&#13;&#10;&#13;&#10;        &lt;Box style={{ flex: 1, background: 'rgba(192,118,92,0.09)', padding: 26, justifyContent: 'space-between' }}&gt;&#13;&#10;            &lt;Box&gt;&#13;&#10;                &lt;Text style={{ fontSize: 12, letterSpacing: '0.16em', color: '#C0765C', marginBottom: 10 }}&gt;MIRRORED · 两套&lt;/Text&gt;&#13;&#10;                &lt;Text style={{ fontSize: 23, fontWeight: 'bold', fontFamily: &quot;'Noto Serif SC', Georgia, serif&quot;, color: '#2E2A27', lineHeight: 1.4 }}&gt;&#13;&#10;                    safety/ 与 tools/&#13;&#10;                &lt;/Text&gt;&#13;&#10;                &lt;Text style={{ fontSize: 17, color: 'rgba(46,42,39,0.80)', lineHeight: 1.7, marginTop: 12 }}&gt;&#13;&#10;                    词表、分级、护栏、危机话术、三个工具，两边各写一遍。改红线必须改两处，靠两端测试对齐行为。&#13;&#10;                &lt;/Text&gt;&#13;&#10;            &lt;/Box&gt;&#13;&#10;            &lt;Text style={{ fontSize: 15, color: '#C0765C', marginTop: 14 }}&gt;改动成本：2 次 + 两轮测试&lt;/Text&gt;&#13;&#10;        &lt;/Box&gt;&#13;&#10;&#13;&#10;    &lt;/Box&gt;&#13;&#10;&#13;&#10;    {/* ── C 区 · 页脚条 ── */}&#13;&#10;    &lt;Box style={{ position: 'absolute', left: 72, bottom: 22, flexDirection: 'row', alignItems: 'center', gap: 8 }}&gt;&#13;&#10;        &lt;Box style={{ width: 6, height: 6, borderRadius: 3, background: '#C0765C' }} /&gt;&#13;&#10;        &lt;Text style={{ fontSize: 14, color: 'rgba(46,42,39,0.45)', letterSpacing: '0.04em' }}&gt;心屿 · 技术分析&lt;/Text&gt;&#13;&#10;    &lt;/Box&gt;&#13;&#10;    &lt;Text style={{ position: 'absolute', right: 72, bottom: 22, fontSize: 14, color: 'rgba(46,42,39,0.45)', letterSpacing: '0.04em' }}&gt;&#13;&#10;        03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34290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一套业务，两个运行时</a:t>
            </a:r>
            <a:endParaRPr/>
          </a:p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238250"/>
            <a:ext cx="10820400" cy="245745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685800" y="1866900"/>
            <a:ext cx="1619250" cy="1219200"/>
          </a:xfrm>
          <a:prstGeom prst="roundRect">
            <a:avLst>
              <a:gd name="adj" fmla="val 4688"/>
            </a:avLst>
          </a:prstGeom>
          <a:solidFill>
            <a:srgbClr val="C0765C">
              <a:alpha val="10000"/>
            </a:srgbClr>
          </a:solidFill>
          <a:ln w="25400">
            <a:solidFill>
              <a:srgbClr val="C0765C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1905000"/>
            <a:ext cx="13144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浏览器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2257425"/>
            <a:ext cx="1314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C0765C"/>
                </a:solidFill>
                <a:latin typeface="Noto Sans SC"/>
                <a:ea typeface="Noto Sans SC"/>
              </a:rPr>
              <a:t xml:space="preserve">web/ · </a:t>
            </a:r>
            <a:r>
              <a:rPr lang="zh-CN" sz="1050">
                <a:solidFill>
                  <a:srgbClr val="C0765C"/>
                </a:solidFill>
                <a:latin typeface="Noto Sans SC"/>
                <a:ea typeface="Noto Sans SC"/>
              </a:rPr>
              <a:t>单页无构建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38200" y="2581275"/>
            <a:ext cx="1314450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2E2A27">
                    <a:alpha val="58000"/>
                  </a:srgbClr>
                </a:solidFill>
                <a:latin typeface="Noto Sans SC"/>
                <a:ea typeface="Noto Sans SC"/>
              </a:rPr>
              <a:t>两个运行时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2E2A27">
                    <a:alpha val="58000"/>
                  </a:srgbClr>
                </a:solidFill>
                <a:latin typeface="Noto Sans SC"/>
                <a:ea typeface="Noto Sans SC"/>
              </a:rPr>
              <a:t>共用同一份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2971800" y="1581150"/>
            <a:ext cx="4000500" cy="800100"/>
          </a:xfrm>
          <a:prstGeom prst="roundRect">
            <a:avLst>
              <a:gd name="adj" fmla="val 7143"/>
            </a:avLst>
          </a:prstGeom>
          <a:solidFill>
            <a:srgbClr val="6E7C8C">
              <a:alpha val="10000"/>
            </a:srgbClr>
          </a:solidFill>
          <a:ln w="19050">
            <a:solidFill>
              <a:srgbClr val="6E7C8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114675" y="1685925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2E2A27"/>
                </a:solidFill>
                <a:latin typeface="Noto Sans SC"/>
                <a:ea typeface="Noto Sans SC"/>
              </a:rPr>
              <a:t>本地版</a:t>
            </a:r>
            <a:r>
              <a:rPr lang="en-US" sz="1425" b="1">
                <a:solidFill>
                  <a:srgbClr val="2E2A27"/>
                </a:solidFill>
                <a:latin typeface="Noto Sans SC"/>
                <a:ea typeface="Noto Sans SC"/>
              </a:rPr>
              <a:t xml:space="preserve"> · FastAPI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114675" y="2028825"/>
            <a:ext cx="3714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app/main.py · Python 3.13 · openai-agents 0.24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2971800" y="2571750"/>
            <a:ext cx="4000500" cy="800100"/>
          </a:xfrm>
          <a:prstGeom prst="roundRect">
            <a:avLst>
              <a:gd name="adj" fmla="val 7143"/>
            </a:avLst>
          </a:prstGeom>
          <a:solidFill>
            <a:srgbClr val="6E7C8C">
              <a:alpha val="10000"/>
            </a:srgbClr>
          </a:solidFill>
          <a:ln w="19050">
            <a:solidFill>
              <a:srgbClr val="6E7C8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114675" y="2676525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2E2A27"/>
                </a:solidFill>
                <a:latin typeface="Noto Sans SC"/>
                <a:ea typeface="Noto Sans SC"/>
              </a:rPr>
              <a:t>生产版</a:t>
            </a:r>
            <a:r>
              <a:rPr lang="en-US" sz="1425" b="1">
                <a:solidFill>
                  <a:srgbClr val="2E2A27"/>
                </a:solidFill>
                <a:latin typeface="Noto Sans SC"/>
                <a:ea typeface="Noto Sans SC"/>
              </a:rPr>
              <a:t xml:space="preserve"> · Cloudflare Worker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114675" y="3019425"/>
            <a:ext cx="3714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worker/src/index.ts · TypeScript · @openai/agents 0.21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639050" y="1866900"/>
            <a:ext cx="1619250" cy="1219200"/>
          </a:xfrm>
          <a:prstGeom prst="roundRect">
            <a:avLst>
              <a:gd name="adj" fmla="val 4688"/>
            </a:avLst>
          </a:prstGeom>
          <a:solidFill>
            <a:srgbClr val="6E7C8C">
              <a:alpha val="16000"/>
            </a:srgbClr>
          </a:solidFill>
          <a:ln w="19050">
            <a:solidFill>
              <a:srgbClr val="6E7C8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791450" y="1905000"/>
            <a:ext cx="13144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2E2A27"/>
                </a:solidFill>
                <a:latin typeface="Noto Sans SC"/>
                <a:ea typeface="Noto Sans SC"/>
              </a:rPr>
              <a:t>Mercury 3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791450" y="2257425"/>
            <a:ext cx="1314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Chat Completions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791450" y="2581275"/>
            <a:ext cx="1314450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1M </a:t>
            </a:r>
            <a:r>
              <a:rPr lang="zh-CN" sz="97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上下文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纯文本</a:t>
            </a:r>
            <a:r>
              <a:rPr lang="en-US" sz="97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块式流式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9925050" y="1866900"/>
            <a:ext cx="1581150" cy="1219200"/>
          </a:xfrm>
          <a:prstGeom prst="roundRect">
            <a:avLst>
              <a:gd name="adj" fmla="val 4688"/>
            </a:avLst>
          </a:prstGeom>
          <a:solidFill>
            <a:srgbClr val="6E7C8C">
              <a:alpha val="10000"/>
            </a:srgbClr>
          </a:solidFill>
          <a:ln w="19050">
            <a:solidFill>
              <a:srgbClr val="6E7C8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077450" y="1914525"/>
            <a:ext cx="12763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三个工具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077450" y="2286000"/>
            <a:ext cx="1276350" cy="7620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kb_search</a:t>
            </a:r>
            <a:endParaRPr/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web_search</a:t>
            </a:r>
            <a:endParaRPr/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crisis_resources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85800" y="3905250"/>
            <a:ext cx="6057900" cy="2190750"/>
          </a:xfrm>
          <a:prstGeom prst="rect">
            <a:avLst/>
          </a:prstGeom>
          <a:solidFill>
            <a:srgbClr val="6E7C8C">
              <a:alpha val="7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33450" y="4152900"/>
            <a:ext cx="556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 xml:space="preserve">SHARED · </a:t>
            </a: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一份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33450" y="4391025"/>
            <a:ext cx="5562600" cy="3714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2E2A27"/>
                </a:solidFill>
                <a:latin typeface="Noto Serif SC"/>
                <a:ea typeface="Noto Serif SC"/>
              </a:rPr>
              <a:t>前端、提示词、知识库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33450" y="4876800"/>
            <a:ext cx="5562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web/ </a:t>
            </a:r>
            <a:r>
              <a:rPr lang="zh-CN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的</a:t>
            </a:r>
            <a:r>
              <a:rPr lang="en-US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HTML / CSS / JS </a:t>
            </a:r>
            <a:r>
              <a:rPr lang="zh-CN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只有一份；</a:t>
            </a:r>
            <a:r>
              <a:rPr lang="en-US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system.md </a:t>
            </a:r>
            <a:r>
              <a:rPr lang="zh-CN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与</a:t>
            </a:r>
            <a:r>
              <a:rPr lang="en-US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knowledge/ </a:t>
            </a:r>
            <a:r>
              <a:rPr lang="zh-CN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也只有一份。改文案、改语气、加一篇文档，只改一处，两个运行时同时生效。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33450" y="567690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改动成本：</a:t>
            </a: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 xml:space="preserve">1 </a:t>
            </a: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次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010400" y="3905250"/>
            <a:ext cx="4495800" cy="2190750"/>
          </a:xfrm>
          <a:prstGeom prst="rect">
            <a:avLst/>
          </a:prstGeom>
          <a:solidFill>
            <a:srgbClr val="C0765C">
              <a:alpha val="9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58050" y="415290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0765C"/>
                </a:solidFill>
                <a:latin typeface="Noto Sans SC"/>
                <a:ea typeface="Noto Sans SC"/>
              </a:rPr>
              <a:t xml:space="preserve">MIRRORED · </a:t>
            </a:r>
            <a:r>
              <a:rPr lang="zh-CN" sz="900">
                <a:solidFill>
                  <a:srgbClr val="C0765C"/>
                </a:solidFill>
                <a:latin typeface="Noto Sans SC"/>
                <a:ea typeface="Noto Sans SC"/>
              </a:rPr>
              <a:t>两套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258050" y="439102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2E2A27"/>
                </a:solidFill>
                <a:latin typeface="Noto Serif SC"/>
                <a:ea typeface="Noto Serif SC"/>
              </a:rPr>
              <a:t xml:space="preserve">safety/ </a:t>
            </a:r>
            <a:r>
              <a:rPr lang="zh-CN" sz="1725" b="1">
                <a:solidFill>
                  <a:srgbClr val="2E2A27"/>
                </a:solidFill>
                <a:latin typeface="Noto Serif SC"/>
                <a:ea typeface="Noto Serif SC"/>
              </a:rPr>
              <a:t>与</a:t>
            </a:r>
            <a:r>
              <a:rPr lang="en-US" sz="1725" b="1">
                <a:solidFill>
                  <a:srgbClr val="2E2A27"/>
                </a:solidFill>
                <a:latin typeface="Noto Serif SC"/>
                <a:ea typeface="Noto Serif SC"/>
              </a:rPr>
              <a:t xml:space="preserve"> tools/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258050" y="4876800"/>
            <a:ext cx="4000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词表、分级、护栏、危机话术、三个工具，两边各写一遍。改红线必须改两处，靠两端测试对齐行为。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258050" y="56769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0765C"/>
                </a:solidFill>
                <a:latin typeface="Noto Sans SC"/>
                <a:ea typeface="Noto Sans SC"/>
              </a:rPr>
              <a:t>改动成本：</a:t>
            </a:r>
            <a:r>
              <a:rPr lang="en-US" sz="1125">
                <a:solidFill>
                  <a:srgbClr val="C0765C"/>
                </a:solidFill>
                <a:latin typeface="Noto Sans SC"/>
                <a:ea typeface="Noto Sans SC"/>
              </a:rPr>
              <a:t xml:space="preserve">2 </a:t>
            </a:r>
            <a:r>
              <a:rPr lang="zh-CN" sz="1125">
                <a:solidFill>
                  <a:srgbClr val="C0765C"/>
                </a:solidFill>
                <a:latin typeface="Noto Sans SC"/>
                <a:ea typeface="Noto Sans SC"/>
              </a:rPr>
              <a:t>次</a:t>
            </a:r>
            <a:r>
              <a:rPr lang="en-US" sz="1125">
                <a:solidFill>
                  <a:srgbClr val="C0765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125">
                <a:solidFill>
                  <a:srgbClr val="C0765C"/>
                </a:solidFill>
                <a:latin typeface="Noto Sans SC"/>
                <a:ea typeface="Noto Sans SC"/>
              </a:rPr>
              <a:t>两轮测试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85800" y="6543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19150" y="6486525"/>
            <a:ext cx="1000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心屿</a:t>
            </a: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技术分析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style={{ width: 1280, height: 720, background: '#FBF7F2', padding: 0, position: 'relative', fontFamily: &quot;'Noto Sans SC', system-ui, sans-serif&quot; }}&gt;&#13;&#10;&#13;&#10;    {/* 背景暖色光晕（极淡，只托住数字） */}&#13;&#10;    &lt;Box style={{ position: 'absolute', left: -60, top: 150, width: 520, height: 520, borderRadius: 260, background: 'rgba(192,118,92,0.07)' }} /&gt;&#13;&#10;&#13;&#10;    {/* ── A 区 · 小标题（hero 页不放大标题，用 eyebrow 代替） ── */}&#13;&#10;    &lt;Box style={{ position: 'absolute', left: 72, top: 52, flexDirection: 'row', alignItems: 'center', gap: 16 }}&gt;&#13;&#10;        &lt;Box style={{ width: 4, height: 26, background: '#C0765C' }} /&gt;&#13;&#10;        &lt;Text style={{ fontSize: 15, letterSpacing: '0.18em', color: '#6E7C8C' }}&gt;KEY FINDING · 2026-10-25 实测&lt;/Text&gt;&#13;&#10;    &lt;/Box&gt;&#13;&#10;&#13;&#10;    {/* ── 左 · 巨型数字（视觉锚点） ── */}&#13;&#10;    &lt;Box style={{ position: 'absolute', left: 72, top: 176, width: 400 }}&gt;&#13;&#10;        &lt;Text style={{ fontSize: 190, fontWeight: 'bold', fontFamily: &quot;'Noto Serif SC', Georgia, serif&quot;, color: '#C0765C', lineHeight: 1.0, letterSpacing: '-0.04em' }}&gt;&#13;&#10;            0&#13;&#10;        &lt;/Text&gt;&#13;&#10;        &lt;Text style={{ fontSize: 21, fontWeight: 'bold', color: '#2E2A27', lineHeight: 1.5, marginTop: 6 }}&gt;&#13;&#10;            危机路径调用模型的次数&#13;&#10;        &lt;/Text&gt;&#13;&#10;        &lt;Box style={{ width: 56, height: 3, background: '#C0765C', marginTop: 20, marginBottom: 18 }} /&gt;&#13;&#10;        &lt;Text style={{ fontSize: 16, color: 'rgba(46,42,39,0.62)', lineHeight: 1.75 }}&gt;&#13;&#10;            L2 / L3 两级完全不经过模型。&lt;br /&gt;&#13;&#10;            不是优化，是唯一可行的做法。&#13;&#10;        &lt;/Text&gt;&#13;&#10;    &lt;/Box&gt;&#13;&#10;&#13;&#10;    {/* ── 右 · 证据 + 判断 ── */}&#13;&#10;    &lt;Box style={{ position: 'absolute', left: 552, top: 152, width: 656 }}&gt;&#13;&#10;&#13;&#10;        &lt;Text style={{ fontSize: 22, color: 'rgba(46,42,39,0.85)', lineHeight: 1.65, marginBottom: 22 }}&gt;&#13;&#10;            用户说「我真的不想活了，已经想好怎么做了」，&lt;br /&gt;&#13;&#10;            Mercury 3 的 API 层返回的不是回复，是这句话：&#13;&#10;        &lt;/Text&gt;&#13;&#10;&#13;&#10;        &lt;Box style={{ borderLeft: '3px solid #C0765C', background: 'rgba(110,124,140,0.09)', padding: 22, paddingLeft: 24 }}&gt;&#13;&#10;            &lt;Text style={{ fontSize: 17, fontFamily: &quot;'Noto Sans SC', sans-serif&quot;, color: 'rgba(46,42,39,0.78)', lineHeight: 1.7 }}&gt;&#13;&#10;                I'm sorry, but I can't help with this because it involves potentially dangerous or harmful content.&#13;&#10;            &lt;/Text&gt;&#13;&#10;            &lt;Text style={{ fontSize: 14, color: '#6E7C8C', marginTop: 10, lineHeight: 1.5 }}&gt;&#13;&#10;                — Inception API · 原始拒答响应&#13;&#10;            &lt;/Text&gt;&#13;&#10;        &lt;/Box&gt;&#13;&#10;&#13;&#10;        &lt;Text style={{ fontSize: 24, fontWeight: 'bold', fontFamily: &quot;'Noto Serif SC', Georgia, serif&quot;, color: '#2E2A27', lineHeight: 1.5, marginTop: 26 }}&gt;&#13;&#10;            最需要它说话的时刻，模型会闭嘴。&#13;&#10;        &lt;/Text&gt;&#13;&#10;&#13;&#10;        &lt;Text style={{ fontSize: 17, color: 'rgba(46,42,39,0.78)', lineHeight: 1.75, marginTop: 12 }}&gt;&#13;&#10;            于是危机回复改成确定性的：话术写死在代码里，号码只从常量表取。代价是失去个性化，但危机当下，稳定 &amp;gt; 贴切。&#13;&#10;        &lt;/Text&gt;&#13;&#10;&#13;&#10;        &lt;Box style={{ flexDirection: 'row', gap: 10, marginTop: 24 }}&gt;&#13;&#10;            &lt;Box style={{ background: 'rgba(192,118,92,0.12)', borderRadius: 14, paddingTop: 7, paddingBottom: 7, paddingLeft: 16, paddingRight: 16 }}&gt;&#13;&#10;                &lt;Text style={{ fontSize: 14, color: '#C0765C' }}&gt;话术写死&lt;/Text&gt;&#13;&#10;            &lt;/Box&gt;&#13;&#10;            &lt;Box style={{ background: 'rgba(192,118,92,0.12)', borderRadius: 14, paddingTop: 7, paddingBottom: 7, paddingLeft: 16, paddingRight: 16 }}&gt;&#13;&#10;                &lt;Text style={{ fontSize: 14, color: '#C0765C' }}&gt;号码来自常量表&lt;/Text&gt;&#13;&#10;            &lt;/Box&gt;&#13;&#10;            &lt;Box style={{ background: 'rgba(110,124,140,0.14)', borderRadius: 14, paddingTop: 7, paddingBottom: 7, paddingLeft: 16, paddingRight: 16 }}&gt;&#13;&#10;                &lt;Text style={{ fontSize: 14, color: '#6E7C8C' }}&gt;牺牲个性化&lt;/Text&gt;&#13;&#10;            &lt;/Box&gt;&#13;&#10;        &lt;/Box&gt;&#13;&#10;&#13;&#10;    &lt;/Box&gt;&#13;&#10;&#13;&#10;    &lt;Text style={{ position: 'absolute', right: 72, bottom: 22, fontSize: 14, color: 'rgba(46,42,39,0.45)', letterSpacing: '0.04em' }}&gt;&#13;&#10;        04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-571500" y="142875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C0765C">
              <a:alpha val="700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85800" y="495300"/>
            <a:ext cx="38100" cy="2476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53340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 xml:space="preserve">KEY FINDING · 2026-10-25 </a:t>
            </a: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实测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3810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C0765C"/>
                </a:solidFill>
                <a:latin typeface="Noto Serif SC"/>
                <a:ea typeface="Noto Serif SC"/>
              </a:rPr>
              <a:t>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3905250"/>
            <a:ext cx="381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2E2A27"/>
                </a:solidFill>
                <a:latin typeface="Noto Sans SC"/>
                <a:ea typeface="Noto Sans SC"/>
              </a:rPr>
              <a:t>危机路径调用模型的次数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5800" y="4457700"/>
            <a:ext cx="533400" cy="28575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3810000" cy="647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L2 / L3 </a:t>
            </a:r>
            <a:r>
              <a:rPr lang="zh-CN" sz="120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两级完全不经过模型。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不是优化，是唯一可行的做法。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257800" y="1447800"/>
            <a:ext cx="6248400" cy="8382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65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用户说「我真的不想活了，已经想好怎么做了」，</a:t>
            </a:r>
            <a:endParaRPr/>
          </a:p>
          <a:p>
            <a:pPr>
              <a:lnSpc>
                <a:spcPct val="165000"/>
              </a:lnSpc>
            </a:pPr>
            <a:r>
              <a:rPr lang="en-US" sz="165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 xml:space="preserve">Mercury 3 </a:t>
            </a:r>
            <a:r>
              <a:rPr lang="zh-CN" sz="165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的</a:t>
            </a:r>
            <a:r>
              <a:rPr lang="en-US" sz="165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65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层返回的不是回复，是这句话：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286375" y="2495550"/>
            <a:ext cx="6248400" cy="1428750"/>
          </a:xfrm>
          <a:prstGeom prst="rect">
            <a:avLst/>
          </a:prstGeom>
          <a:solidFill>
            <a:srgbClr val="6E7C8C">
              <a:alpha val="9000"/>
            </a:srgbClr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5257800" y="2495550"/>
            <a:ext cx="6276975" cy="1428750"/>
          </a:xfrm>
          <a:custGeom>
            <a:pathLst>
              <a:path w="659" h="150">
                <a:moveTo>
                  <a:pt x="0" y="0"/>
                </a:moveTo>
                <a:lnTo>
                  <a:pt x="3" y="0"/>
                </a:lnTo>
                <a:lnTo>
                  <a:pt x="3" y="150"/>
                </a:lnTo>
                <a:lnTo>
                  <a:pt x="0" y="150"/>
                </a:lnTo>
                <a:close/>
              </a:path>
            </a:pathLst>
          </a:custGeom>
          <a:solidFill>
            <a:srgbClr val="C0765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514975" y="2705100"/>
            <a:ext cx="57816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I'm sorry, but I can't help with this because it involves potentially dangerous or harmful content.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514975" y="3467100"/>
            <a:ext cx="5781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E7C8C"/>
                </a:solidFill>
                <a:latin typeface="Noto Sans SC"/>
                <a:ea typeface="Noto Sans SC"/>
              </a:rPr>
              <a:t xml:space="preserve">— Inception API · </a:t>
            </a:r>
            <a:r>
              <a:rPr lang="zh-CN" sz="1050">
                <a:solidFill>
                  <a:srgbClr val="6E7C8C"/>
                </a:solidFill>
                <a:latin typeface="Noto Sans SC"/>
                <a:ea typeface="Noto Sans SC"/>
              </a:rPr>
              <a:t>原始拒答响应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257800" y="4171950"/>
            <a:ext cx="6248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2E2A27"/>
                </a:solidFill>
                <a:latin typeface="Noto Serif SC"/>
                <a:ea typeface="Noto Serif SC"/>
              </a:rPr>
              <a:t>最需要它说话的时刻，模型会闭嘴。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257800" y="4705350"/>
            <a:ext cx="62484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于是危机回复改成确定性的：话术写死在代码里，号码只从常量表取。代价是失去个性化，但危机当下，稳定</a:t>
            </a:r>
            <a:r>
              <a:rPr lang="en-US" sz="1275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 xml:space="preserve"> &gt; </a:t>
            </a:r>
            <a:r>
              <a:rPr lang="zh-CN" sz="1275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贴切。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257800" y="5619750"/>
            <a:ext cx="838200" cy="295275"/>
          </a:xfrm>
          <a:prstGeom prst="roundRect">
            <a:avLst>
              <a:gd name="adj" fmla="val 45161"/>
            </a:avLst>
          </a:prstGeom>
          <a:solidFill>
            <a:srgbClr val="C0765C">
              <a:alpha val="12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410200" y="5686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0765C"/>
                </a:solidFill>
                <a:latin typeface="Noto Sans SC"/>
                <a:ea typeface="Noto Sans SC"/>
              </a:rPr>
              <a:t>话术写死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191250" y="5619750"/>
            <a:ext cx="1238250" cy="295275"/>
          </a:xfrm>
          <a:prstGeom prst="roundRect">
            <a:avLst>
              <a:gd name="adj" fmla="val 45161"/>
            </a:avLst>
          </a:prstGeom>
          <a:solidFill>
            <a:srgbClr val="C0765C">
              <a:alpha val="12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43650" y="56864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0765C"/>
                </a:solidFill>
                <a:latin typeface="Noto Sans SC"/>
                <a:ea typeface="Noto Sans SC"/>
              </a:rPr>
              <a:t>号码来自常量表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524750" y="5619750"/>
            <a:ext cx="971550" cy="295275"/>
          </a:xfrm>
          <a:prstGeom prst="roundRect">
            <a:avLst>
              <a:gd name="adj" fmla="val 45161"/>
            </a:avLst>
          </a:prstGeom>
          <a:solidFill>
            <a:srgbClr val="6E7C8C">
              <a:alpha val="14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77150" y="5686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C8C"/>
                </a:solidFill>
                <a:latin typeface="Noto Sans SC"/>
                <a:ea typeface="Noto Sans SC"/>
              </a:rPr>
              <a:t>牺牲个性化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四级分流：宁可误报&#13;&#10;        &lt;/Text&gt;&#13;&#10;    &lt;/Box&gt;&#13;&#10;&#13;&#10;    {/* ── 左栏 62% · 阶梯 ── */}&#13;&#10;    &lt;Box style={{ position: 'absolute', left: 72, top: 132, width: 700, height: 512, justifyContent: 'space-between' }}&gt;&#13;&#10;&#13;&#10;        {/* L0 */}&#13;&#10;        &lt;Box style={{ width: 700, height: 92, background: 'rgba(110,124,140,0.07)', paddingLeft: 22, paddingRight: 22, paddingTop: 16, paddingBottom: 16, justifyContent: 'center' }}&gt;&#13;&#10;            &lt;Box style={{ flexDirection: 'row', alignItems: 'center', gap: 14 }}&gt;&#13;&#10;                &lt;Text style={{ fontSize: 26, fontWeight: 'bold', fontFamily: &quot;'Noto Serif SC', Georgia, serif&quot;, color: 'rgba(110,124,140,0.55)', width: 46 }}&gt;L0&lt;/Text&gt;&#13;&#10;                &lt;Text style={{ fontSize: 20, fontWeight: 'bold', color: '#2E2A27' }}&gt;日常压力&lt;/Text&gt;&#13;&#10;                &lt;Text style={{ fontSize: 15, color: 'rgba(46,42,39,0.55)' }}&gt;「加班到凌晨，很累」&lt;/Text&gt;&#13;&#10;            &lt;/Box&gt;&#13;&#10;            &lt;Text style={{ fontSize: 16, color: 'rgba(46,42,39,0.72)', lineHeight: 1.55, marginTop: 8 }}&gt;&#13;&#10;                正常对话：共情 → 一个可执行的小动作。不出卡片。&#13;&#10;            &lt;/Text&gt;&#13;&#10;        &lt;/Box&gt;&#13;&#10;&#13;&#10;        {/* L1 */}&#13;&#10;        &lt;Box style={{ width: 700, height: 106, background: 'rgba(110,124,140,0.11)', paddingLeft: 22, paddingRight: 22, paddingTop: 16, paddingBottom: 16, justifyContent: 'center' }}&gt;&#13;&#10;            &lt;Box style={{ flexDirection: 'row', alignItems: 'center', gap: 14 }}&gt;&#13;&#10;                &lt;Text style={{ fontSize: 26, fontWeight: 'bold', fontFamily: &quot;'Noto Serif SC', Georgia, serif&quot;, color: 'rgba(110,124,140,0.72)', width: 46 }}&gt;L1&lt;/Text&gt;&#13;&#10;                &lt;Text style={{ fontSize: 20, fontWeight: 'bold', color: '#2E2A27' }}&gt;被动意念&lt;/Text&gt;&#13;&#10;                &lt;Text style={{ fontSize: 15, color: 'rgba(46,42,39,0.55)' }}&gt;「活着没意思」&lt;/Text&gt;&#13;&#10;            &lt;/Box&gt;&#13;&#10;            &lt;Text style={{ fontSize: 16, color: 'rgba(46,42,39,0.72)', lineHeight: 1.55, marginTop: 8 }}&gt;&#13;&#10;                不给卡片，但必须直接问意图——「你有想过伤害自己吗」。不绕。&#13;&#10;            &lt;/Text&gt;&#13;&#10;        &lt;/Box&gt;&#13;&#10;&#13;&#10;        {/* L2 */}&#13;&#10;        &lt;Box style={{ width: 700, height: 120, background: 'rgba(110,124,140,0.17)', paddingLeft: 22, paddingRight: 22, paddingTop: 16, paddingBottom: 16, justifyContent: 'center' }}&gt;&#13;&#10;            &lt;Box style={{ flexDirection: 'row', alignItems: 'center', gap: 14 }}&gt;&#13;&#10;                &lt;Text style={{ fontSize: 26, fontWeight: 'bold', fontFamily: &quot;'Noto Serif SC', Georgia, serif&quot;, color: '#6E7C8C', width: 46 }}&gt;L2&lt;/Text&gt;&#13;&#10;                &lt;Text style={{ fontSize: 20, fontWeight: 'bold', color: '#2E2A27' }}&gt;主动意念&lt;/Text&gt;&#13;&#10;                &lt;Text style={{ fontSize: 15, color: 'rgba(46,42,39,0.55)' }}&gt;「我不想活了」&lt;/Text&gt;&#13;&#10;            &lt;/Box&gt;&#13;&#10;            &lt;Text style={{ fontSize: 16, color: 'rgba(46,42,39,0.78)', lineHeight: 1.55, marginTop: 8 }}&gt;&#13;&#10;                出卡片 + 写死话术，&lt;span style={{ fontWeight: 'bold' }}&gt;不调用模型&lt;/span&gt;，整页转冷色。&#13;&#10;            &lt;/Text&gt;&#13;&#10;        &lt;/Box&gt;&#13;&#10;&#13;&#10;        {/* L3 */}&#13;&#10;        &lt;Box style={{ width: 700, height: 134, background: 'rgba(192,118,92,0.16)', borderLeft: '3px solid #C0765C', paddingLeft: 19, paddingRight: 22, paddingTop: 16, paddingBottom: 16, justifyContent: 'center' }}&gt;&#13;&#10;            &lt;Box style={{ flexDirection: 'row', alignItems: 'center', gap: 14 }}&gt;&#13;&#10;                &lt;Text style={{ fontSize: 26, fontWeight: 'bold', fontFamily: &quot;'Noto Serif SC', Georgia, serif&quot;, color: '#C0765C', width: 46 }}&gt;L3&lt;/Text&gt;&#13;&#10;                &lt;Text style={{ fontSize: 20, fontWeight: 'bold', color: '#2E2A27' }}&gt;即时危险&lt;/Text&gt;&#13;&#10;                &lt;Text style={{ fontSize: 15, color: 'rgba(46,42,39,0.55)' }}&gt;「已经割腕了」&lt;/Text&gt;&#13;&#10;            &lt;/Box&gt;&#13;&#10;            &lt;Text style={{ fontSize: 16, color: 'rgba(46,42,39,0.82)', lineHeight: 1.55, marginTop: 8 }}&gt;&#13;&#10;                顺序不同：&lt;span style={{ color: '#C0765C', fontWeight: 'bold' }}&gt;先 120&lt;/span&gt;，再 12356。急救优先于倾听。&#13;&#10;            &lt;/Text&gt;&#13;&#10;        &lt;/Box&gt;&#13;&#10;&#13;&#10;    &lt;/Box&gt;&#13;&#10;&#13;&#10;    {/* ── 右栏 38% · 已处理的规避手法 ── */}&#13;&#10;    &lt;Box style={{ position: 'absolute', left: 812, top: 132, width: 396, height: 512 }}&gt;&#13;&#10;&#13;&#10;        &lt;Text style={{ fontSize: 12, letterSpacing: '0.16em', color: '#6E7C8C', marginBottom: 14 }}&gt;BYPASS · 已处理四类规避&lt;/Text&gt;&#13;&#10;&#13;&#10;        &lt;Box style={{ justifyContent: 'space-between', flex: 1 }}&gt;&#13;&#10;&#13;&#10;            &lt;Box style={{ borderTop: '1px solid rgba(46,42,39,0.12)', paddingTop: 12 }}&gt;&#13;&#10;                &lt;Text style={{ fontSize: 17, fontWeight: 'bold', color: '#2E2A27', lineHeight: 1.4 }}&gt;否定式&lt;/Text&gt;&#13;&#10;                &lt;Text style={{ fontSize: 15, color: 'rgba(46,42,39,0.62)', lineHeight: 1.55, marginTop: 5 }}&gt;「我不会自杀」→ 判 L0，不误伤&lt;/Text&gt;&#13;&#10;            &lt;/Box&gt;&#13;&#10;&#13;&#10;            &lt;Box style={{ borderTop: '1px solid rgba(46,42,39,0.12)', paddingTop: 12 }}&gt;&#13;&#10;                &lt;Text style={{ fontSize: 17, fontWeight: 'bold', color: '#2E2A27', lineHeight: 1.4 }}&gt;否定不赦免后半句&lt;/Text&gt;&#13;&#10;                &lt;Text style={{ fontSize: 15, color: 'rgba(46,42,39,0.62)', lineHeight: 1.55, marginTop: 5 }}&gt;「我不会自杀，但有时候真的想死」→ 仍判 L2&lt;/Text&gt;&#13;&#10;            &lt;/Box&gt;&#13;&#10;&#13;&#10;            &lt;Box style={{ borderTop: '1px solid rgba(46,42,39,0.12)', paddingTop: 12 }}&gt;&#13;&#10;                &lt;Text style={{ fontSize: 17, fontWeight: 'bold', color: '#2E2A27', lineHeight: 1.4 }}&gt;第三人称&lt;/Text&gt;&#13;&#10;                &lt;Text style={{ fontSize: 15, color: 'rgba(46,42,39,0.62)', lineHeight: 1.55, marginTop: 5 }}&gt;「我朋友说他想自杀」→ 判 L2，换求助话术&lt;/Text&gt;&#13;&#10;            &lt;/Box&gt;&#13;&#10;&#13;&#10;            &lt;Box style={{ borderTop: '1px solid rgba(46,42,39,0.12)', paddingTop: 12 }}&gt;&#13;&#10;                &lt;Text style={{ fontSize: 17, fontWeight: 'bold', color: '#2E2A27', lineHeight: 1.4 }}&gt;空格规避&lt;/Text&gt;&#13;&#10;                &lt;Text style={{ fontSize: 15, color: 'rgba(46,42,39,0.62)', lineHeight: 1.55, marginTop: 5 }}&gt;「自 杀」→ 归一化去空白后仍命中&lt;/Text&gt;&#13;&#10;            &lt;/Box&gt;&#13;&#10;&#13;&#10;            &lt;Box style={{ borderTop: '2px solid #C0765C', paddingTop: 14, background: 'rgba(192,118,92,0.07)', paddingLeft: 14, paddingRight: 14, paddingBottom: 14 }}&gt;&#13;&#10;                &lt;Text style={{ fontSize: 16, color: 'rgba(46,42,39,0.85)', lineHeight: 1.7 }}&gt;&#13;&#10;                    误报的代价只是多问一句；&lt;br /&gt;漏报不可逆。&lt;br /&gt;所以分级只做加严，不做放宽。&#13;&#10;                &lt;/Text&gt;&#13;&#10;            &lt;/Box&gt;&#13;&#10;&#13;&#10;        &lt;/Box&gt;&#13;&#10;    &lt;/Box&gt;&#13;&#10;&#13;&#10;    &lt;Text style={{ position: 'absolute', right: 72, bottom: 22, fontSize: 14, color: 'rgba(46,42,39,0.45)', letterSpacing: '0.04em' }}&gt;&#13;&#10;        05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30861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四级分流：宁可误报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85800" y="1257300"/>
            <a:ext cx="6667500" cy="876300"/>
          </a:xfrm>
          <a:prstGeom prst="rect">
            <a:avLst/>
          </a:prstGeom>
          <a:solidFill>
            <a:srgbClr val="6E7C8C">
              <a:alpha val="7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5350" y="13620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E7C8C">
                    <a:alpha val="55000"/>
                  </a:srgbClr>
                </a:solidFill>
                <a:latin typeface="Noto Serif SC"/>
                <a:ea typeface="Noto Serif SC"/>
              </a:rPr>
              <a:t>L0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466850" y="14001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日常压力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2362200" y="14287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「加班到凌晨，很累」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95350" y="1743075"/>
            <a:ext cx="6248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E2A27">
                    <a:alpha val="72000"/>
                  </a:srgbClr>
                </a:solidFill>
                <a:latin typeface="Noto Sans SC"/>
                <a:ea typeface="Noto Sans SC"/>
              </a:rPr>
              <a:t>正常对话：共情</a:t>
            </a:r>
            <a:r>
              <a:rPr lang="en-US" sz="1200">
                <a:solidFill>
                  <a:srgbClr val="2E2A27">
                    <a:alpha val="72000"/>
                  </a:srgbClr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200">
                <a:solidFill>
                  <a:srgbClr val="2E2A27">
                    <a:alpha val="72000"/>
                  </a:srgbClr>
                </a:solidFill>
                <a:latin typeface="Noto Sans SC"/>
                <a:ea typeface="Noto Sans SC"/>
              </a:rPr>
              <a:t>一个可执行的小动作。不出卡片。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85800" y="2324100"/>
            <a:ext cx="6667500" cy="1009650"/>
          </a:xfrm>
          <a:prstGeom prst="rect">
            <a:avLst/>
          </a:prstGeom>
          <a:solidFill>
            <a:srgbClr val="6E7C8C">
              <a:alpha val="11000"/>
            </a:srgbClr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95350" y="24955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E7C8C">
                    <a:alpha val="72000"/>
                  </a:srgbClr>
                </a:solidFill>
                <a:latin typeface="Noto Serif SC"/>
                <a:ea typeface="Noto Serif SC"/>
              </a:rPr>
              <a:t>L1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466850" y="2533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被动意念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362200" y="25622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「活着没意思」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95350" y="2876550"/>
            <a:ext cx="6248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E2A27">
                    <a:alpha val="72000"/>
                  </a:srgbClr>
                </a:solidFill>
                <a:latin typeface="Noto Sans SC"/>
                <a:ea typeface="Noto Sans SC"/>
              </a:rPr>
              <a:t>不给卡片，但必须直接问意图——「你有想过伤害自己吗」。不绕。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5800" y="3524250"/>
            <a:ext cx="6667500" cy="1143000"/>
          </a:xfrm>
          <a:prstGeom prst="rect">
            <a:avLst/>
          </a:prstGeom>
          <a:solidFill>
            <a:srgbClr val="6E7C8C">
              <a:alpha val="17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95350" y="37623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E7C8C"/>
                </a:solidFill>
                <a:latin typeface="Noto Serif SC"/>
                <a:ea typeface="Noto Serif SC"/>
              </a:rPr>
              <a:t>L2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466850" y="38004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主动意念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362200" y="38290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「我不想活了」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95350" y="4143375"/>
            <a:ext cx="6248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出卡片</a:t>
            </a:r>
            <a:r>
              <a:rPr lang="en-US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写死话术，</a:t>
            </a:r>
            <a:r>
              <a:rPr lang="zh-CN" sz="1200" b="1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不调用模型</a:t>
            </a:r>
            <a:r>
              <a:rPr lang="zh-CN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，整页转冷色。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714375" y="4857750"/>
            <a:ext cx="6638925" cy="1276350"/>
          </a:xfrm>
          <a:prstGeom prst="rect">
            <a:avLst/>
          </a:prstGeom>
          <a:solidFill>
            <a:srgbClr val="C0765C">
              <a:alpha val="16000"/>
            </a:srgbClr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685800" y="4857750"/>
            <a:ext cx="6667500" cy="1276350"/>
          </a:xfrm>
          <a:custGeom>
            <a:pathLst>
              <a:path w="700" h="134">
                <a:moveTo>
                  <a:pt x="0" y="0"/>
                </a:moveTo>
                <a:lnTo>
                  <a:pt x="3" y="0"/>
                </a:lnTo>
                <a:lnTo>
                  <a:pt x="3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C0765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95350" y="51625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C0765C"/>
                </a:solidFill>
                <a:latin typeface="Noto Serif SC"/>
                <a:ea typeface="Noto Serif SC"/>
              </a:rPr>
              <a:t>L3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66850" y="5200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即时危险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362200" y="52292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「已经割腕了」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95350" y="5543550"/>
            <a:ext cx="6248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顺序不同：</a:t>
            </a:r>
            <a:r>
              <a:rPr lang="zh-CN" sz="1200" b="1">
                <a:solidFill>
                  <a:srgbClr val="C0765C"/>
                </a:solidFill>
                <a:latin typeface="Noto Sans SC"/>
                <a:ea typeface="Noto Sans SC"/>
              </a:rPr>
              <a:t>先</a:t>
            </a:r>
            <a:r>
              <a:rPr lang="en-US" sz="1200" b="1">
                <a:solidFill>
                  <a:srgbClr val="C0765C"/>
                </a:solidFill>
                <a:latin typeface="Noto Sans SC"/>
                <a:ea typeface="Noto Sans SC"/>
              </a:rPr>
              <a:t xml:space="preserve"> 120</a:t>
            </a:r>
            <a:r>
              <a:rPr lang="zh-CN" sz="120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，再</a:t>
            </a:r>
            <a:r>
              <a:rPr lang="en-US" sz="120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 xml:space="preserve"> 12356</a:t>
            </a:r>
            <a:r>
              <a:rPr lang="zh-CN" sz="1200">
                <a:solidFill>
                  <a:srgbClr val="2E2A27">
                    <a:alpha val="82000"/>
                  </a:srgbClr>
                </a:solidFill>
                <a:latin typeface="Noto Sans SC"/>
                <a:ea typeface="Noto Sans SC"/>
              </a:rPr>
              <a:t>。急救优先于倾听。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34300" y="1257300"/>
            <a:ext cx="3771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 xml:space="preserve">BYPASS · </a:t>
            </a: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已处理四类规避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734300" y="1533525"/>
            <a:ext cx="3771900" cy="723900"/>
          </a:xfrm>
          <a:custGeom>
            <a:pathLst>
              <a:path w="396" h="76">
                <a:moveTo>
                  <a:pt x="0" y="0"/>
                </a:moveTo>
                <a:lnTo>
                  <a:pt x="396" y="0"/>
                </a:lnTo>
                <a:lnTo>
                  <a:pt x="39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734300" y="1657350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否定式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734300" y="1981200"/>
            <a:ext cx="3771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「我不会自杀」→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判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L0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，不误伤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7734300" y="2381250"/>
            <a:ext cx="3771900" cy="723900"/>
          </a:xfrm>
          <a:custGeom>
            <a:pathLst>
              <a:path w="396" h="76">
                <a:moveTo>
                  <a:pt x="0" y="0"/>
                </a:moveTo>
                <a:lnTo>
                  <a:pt x="396" y="0"/>
                </a:lnTo>
                <a:lnTo>
                  <a:pt x="39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734300" y="2505075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否定不赦免后半句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734300" y="2828925"/>
            <a:ext cx="3771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「我不会自杀，但有时候真的想死」→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仍判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L2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734300" y="3228975"/>
            <a:ext cx="3771900" cy="723900"/>
          </a:xfrm>
          <a:custGeom>
            <a:pathLst>
              <a:path w="396" h="76">
                <a:moveTo>
                  <a:pt x="0" y="0"/>
                </a:moveTo>
                <a:lnTo>
                  <a:pt x="396" y="0"/>
                </a:lnTo>
                <a:lnTo>
                  <a:pt x="39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734300" y="3352800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第三人称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734300" y="3676650"/>
            <a:ext cx="3771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「我朋友说他想自杀」→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判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L2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，换求助话术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7734300" y="4067175"/>
            <a:ext cx="3771900" cy="723900"/>
          </a:xfrm>
          <a:custGeom>
            <a:pathLst>
              <a:path w="396" h="76">
                <a:moveTo>
                  <a:pt x="0" y="0"/>
                </a:moveTo>
                <a:lnTo>
                  <a:pt x="396" y="0"/>
                </a:lnTo>
                <a:lnTo>
                  <a:pt x="396" y="1"/>
                </a:lnTo>
                <a:lnTo>
                  <a:pt x="0" y="1"/>
                </a:lnTo>
                <a:close/>
              </a:path>
            </a:pathLst>
          </a:cu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734300" y="4191000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空格规避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734300" y="4514850"/>
            <a:ext cx="3771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「自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杀」→</a:t>
            </a:r>
            <a:r>
              <a:rPr lang="en-US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归一化去空白后仍命中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734300" y="4933950"/>
            <a:ext cx="3771900" cy="1219200"/>
          </a:xfrm>
          <a:prstGeom prst="rect">
            <a:avLst/>
          </a:prstGeom>
          <a:solidFill>
            <a:srgbClr val="C0765C">
              <a:alpha val="7000"/>
            </a:srgbClr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734300" y="4914900"/>
            <a:ext cx="3771900" cy="1238250"/>
          </a:xfrm>
          <a:custGeom>
            <a:pathLst>
              <a:path w="396" h="130">
                <a:moveTo>
                  <a:pt x="0" y="0"/>
                </a:moveTo>
                <a:lnTo>
                  <a:pt x="396" y="0"/>
                </a:lnTo>
                <a:lnTo>
                  <a:pt x="396" y="2"/>
                </a:lnTo>
                <a:lnTo>
                  <a:pt x="0" y="2"/>
                </a:lnTo>
                <a:close/>
              </a:path>
            </a:pathLst>
          </a:custGeom>
          <a:solidFill>
            <a:srgbClr val="C0765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67650" y="5067300"/>
            <a:ext cx="350520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误报的代价只是多问一句；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漏报不可逆。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所以分级只做加严，不做放宽。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10 篇文档，不值得上向量库&#13;&#10;        &lt;/Text&gt;&#13;&#10;    &lt;/Box&gt;&#13;&#10;&#13;&#10;    {/* ── 主图 · 覆盖率与门槛 ── */}&#13;&#10;    &lt;Box style={{ position: 'absolute', left: 72, top: 128, width: 728 }}&gt;&#13;&#10;&#13;&#10;        &lt;Text style={{ fontSize: 14, letterSpacing: '0.1em', color: '#6E7C8C' }}&gt;查询：量子色动力学的渐近自由&lt;/Text&gt;&#13;&#10;        &lt;Text style={{ fontSize: 15, color: 'rgba(46,42,39,0.52)', marginTop: 5 }}&gt;纯 BM25 返回的前三段，按「查询词覆盖度」衡量&lt;/Text&gt;&#13;&#10;&#13;&#10;        &lt;Box style={{ position: 'relative', height: 404, marginTop: 24 }}&gt;&#13;&#10;&#13;&#10;            {/* 零轴 */}&#13;&#10;            &lt;Box style={{ position: 'absolute', left: 190, top: 8, width: 1, height: 232, background: 'rgba(46,42,39,0.18)' }} /&gt;&#13;&#10;&#13;&#10;            {/* 门槛竖线 */}&#13;&#10;            &lt;Box style={{ position: 'absolute', left: 598, top: 0, width: 2, height: 240, background: '#C0765C', opacity: 0.9 }} /&gt;&#13;&#10;            &lt;Text style={{ position: 'absolute', left: 610, top: 0, fontSize: 14, color: '#C0765C', lineHeight: 1.4 }}&gt;&#13;&#10;                覆盖度门槛 0.34&#13;&#10;            &lt;/Text&gt;&#13;&#10;&#13;&#10;            {/* 第 1 段 */}&#13;&#10;            &lt;Box style={{ position: 'absolute', left: 0, top: 34, width: 728, flexDirection: 'row', alignItems: 'center' }}&gt;&#13;&#10;                &lt;Text style={{ width: 190, fontSize: 17, color: '#2E2A27' }}&gt;行为动力篇&lt;/Text&gt;&#13;&#10;                &lt;Box style={{ width: 372, height: 40, background: 'rgba(110,124,140,0.52)' }} /&gt;&#13;&#10;                &lt;Box style={{ flex: 1 }} /&gt;&#13;&#10;                &lt;Text style={{ width: 70, textAlign: 'right', fontSize: 21, fontWeight: 'bold', fontFamily: &quot;'Noto Serif SC', Georgia, serif&quot;, color: 'rgba(46,42,39,0.62)' }}&gt;0.31&lt;/Text&gt;&#13;&#10;            &lt;/Box&gt;&#13;&#10;&#13;&#10;            {/* 第 2 段 */}&#13;&#10;            &lt;Box style={{ position: 'absolute', left: 0, top: 116, width: 728, flexDirection: 'row', alignItems: 'center' }}&gt;&#13;&#10;                &lt;Text style={{ width: 190, fontSize: 17, color: '#2E2A27' }}&gt;焦虑与惊恐篇&lt;/Text&gt;&#13;&#10;                &lt;Box style={{ width: 288, height: 40, background: 'rgba(110,124,140,0.38)' }} /&gt;&#13;&#10;                &lt;Box style={{ flex: 1 }} /&gt;&#13;&#10;                &lt;Text style={{ width: 70, textAlign: 'right', fontSize: 21, fontWeight: 'bold', fontFamily: &quot;'Noto Serif SC', Georgia, serif&quot;, color: 'rgba(46,42,39,0.55)' }}&gt;0.24&lt;/Text&gt;&#13;&#10;            &lt;/Box&gt;&#13;&#10;&#13;&#10;            {/* 第 3 段 */}&#13;&#10;            &lt;Box style={{ position: 'absolute', left: 0, top: 198, width: 728, flexDirection: 'row', alignItems: 'center' }}&gt;&#13;&#10;                &lt;Text style={{ width: 190, fontSize: 17, color: '#2E2A27' }}&gt;睡眠与节律篇&lt;/Text&gt;&#13;&#10;                &lt;Box style={{ width: 216, height: 40, background: 'rgba(110,124,140,0.26)' }} /&gt;&#13;&#10;                &lt;Box style={{ flex: 1 }} /&gt;&#13;&#10;                &lt;Text style={{ width: 70, textAlign: 'right', fontSize: 21, fontWeight: 'bold', fontFamily: &quot;'Noto Serif SC', Georgia, serif&quot;, color: 'rgba(46,42,39,0.48)' }}&gt;0.18&lt;/Text&gt;&#13;&#10;            &lt;/Box&gt;&#13;&#10;&#13;&#10;            {/* 结论条 */}&#13;&#10;            &lt;Box style={{ position: 'absolute', left: 0, top: 264, width: 728, flexDirection: 'row', alignItems: 'center', gap: 12 }}&gt;&#13;&#10;                &lt;Box style={{ width: 6, height: 6, borderRadius: 3, background: '#C0765C' }} /&gt;&#13;&#10;                &lt;Text style={{ fontSize: 16, color: 'rgba(46,42,39,0.78)', lineHeight: 1.5 }}&gt;&#13;&#10;                    三段全部低于门槛 → 如实返回「知识库中没有直接相关的内容」，不硬凑。&#13;&#10;                &lt;/Text&gt;&#13;&#10;            &lt;/Box&gt;&#13;&#10;&#13;&#10;            {/* 对照：门槛挡的是噪声，不是正常提问 */}&#13;&#10;            &lt;Box style={{ position: 'absolute', left: 0, top: 308, width: 728, background: 'rgba(192,118,92,0.09)', borderLeft: '3px solid #C0765C', paddingTop: 14, paddingBottom: 14, paddingLeft: 16, paddingRight: 16 }}&gt;&#13;&#10;                &lt;Text style={{ fontSize: 16, color: 'rgba(46,42,39,0.85)', lineHeight: 1.65 }}&gt;&#13;&#10;                    同一套参数下，「睡不着，躺下就开始想工作的事」稳定命中睡眠篇——&lt;br /&gt;&#13;&#10;                    门槛挡住的是噪声，不是正常提问。这一条有测试守着。&#13;&#10;                &lt;/Text&gt;&#13;&#10;            &lt;/Box&gt;&#13;&#10;&#13;&#10;        &lt;/Box&gt;&#13;&#10;&#13;&#10;    &lt;/Box&gt;&#13;&#10;&#13;&#10;    {/* ── 右 · 洞察框 ── */}&#13;&#10;    &lt;Box style={{ position: 'absolute', left: 848, top: 128, width: 360, height: 516, justifyContent: 'space-between' }}&gt;&#13;&#10;&#13;&#10;        &lt;Box&gt;&#13;&#10;            &lt;Text style={{ fontSize: 12, letterSpacing: '0.16em', color: '#6E7C8C', marginBottom: 6 }}&gt;PARAMS&lt;/Text&gt;&#13;&#10;&#13;&#10;            &lt;Box style={{ flexDirection: 'row', justifyContent: 'space-between', paddingBottom: 11, paddingTop: 11, borderBottom: '1px solid rgba(46,42,39,0.10)' }}&gt;&#13;&#10;                &lt;Text style={{ fontSize: 16, color: 'rgba(46,42,39,0.70)' }}&gt;知识库块数&lt;/Text&gt;&#13;&#10;                &lt;Text style={{ fontSize: 16, fontWeight: 'bold', color: '#2E2A27' }}&gt;72&lt;/Text&gt;&#13;&#10;            &lt;/Box&gt;&#13;&#10;            &lt;Box style={{ flexDirection: 'row', justifyContent: 'space-between', paddingBottom: 11, paddingTop: 11, borderBottom: '1px solid rgba(46,42,39,0.10)' }}&gt;&#13;&#10;                &lt;Text style={{ fontSize: 16, color: 'rgba(46,42,39,0.70)' }}&gt;BM25  k1 / b&lt;/Text&gt;&#13;&#10;                &lt;Text style={{ fontSize: 16, fontWeight: 'bold', color: '#2E2A27' }}&gt;1.5 / 0.75&lt;/Text&gt;&#13;&#10;            &lt;/Box&gt;&#13;&#10;            &lt;Box style={{ flexDirection: 'row', justifyContent: 'space-between', paddingBottom: 11, paddingTop: 11, borderBottom: '1px solid rgba(46,42,39,0.10)' }}&gt;&#13;&#10;                &lt;Text style={{ fontSize: 16, color: 'rgba(46,42,39,0.70)' }}&gt;单字权重&lt;/Text&gt;&#13;&#10;                &lt;Text style={{ fontSize: 16, fontWeight: 'bold', color: '#2E2A27' }}&gt;0.35&lt;/Text&gt;&#13;&#10;            &lt;/Box&gt;&#13;&#10;            &lt;Box style={{ flexDirection: 'row', justifyContent: 'space-between', paddingTop: 11 }}&gt;&#13;&#10;                &lt;Text style={{ fontSize: 16, color: 'rgba(46,42,39,0.70)' }}&gt;覆盖度门槛&lt;/Text&gt;&#13;&#10;                &lt;Text style={{ fontSize: 16, fontWeight: 'bold', color: '#C0765C' }}&gt;0.34&lt;/Text&gt;&#13;&#10;            &lt;/Box&gt;&#13;&#10;        &lt;/Box&gt;&#13;&#10;&#13;&#10;        &lt;Box style={{ background: 'rgba(110,124,140,0.09)', padding: 20 }}&gt;&#13;&#10;            &lt;Text style={{ fontSize: 16, color: 'rgba(46,42,39,0.85)', lineHeight: 1.75 }}&gt;&#13;&#10;                问题不在排序，在召回。中文没有空格，单字切分会把「行为动力」和「渐近自由」连成一片噪声——所以用二元分词 + 单字降权，再加一道覆盖度闸门。&#13;&#10;            &lt;/Text&gt;&#13;&#10;            &lt;Text style={{ fontSize: 15, color: '#6E7C8C', lineHeight: 1.7, marginTop: 12 }}&gt;&#13;&#10;                10 篇文档的规模，向量库是纯负债：多一个依赖、多一次网络、多一层不可解释。&#13;&#10;            &lt;/Text&gt;&#13;&#10;        &lt;/Box&gt;&#13;&#10;&#13;&#10;    &lt;/Box&gt;&#13;&#10;&#13;&#10;    &lt;Text style={{ position: 'absolute', right: 72, bottom: 22, fontSize: 14, color: 'rgba(46,42,39,0.45)', letterSpacing: '0.04em' }}&gt;&#13;&#10;        06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421005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2E2A27"/>
                </a:solidFill>
                <a:latin typeface="Noto Serif SC"/>
                <a:ea typeface="Noto Serif SC"/>
              </a:rPr>
              <a:t xml:space="preserve">10 </a:t>
            </a: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篇文档，不值得上向量库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C8C"/>
                </a:solidFill>
                <a:latin typeface="Noto Sans SC"/>
                <a:ea typeface="Noto Sans SC"/>
              </a:rPr>
              <a:t>查询：量子色动力学的渐近自由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85800" y="14287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2000"/>
                  </a:srgbClr>
                </a:solidFill>
                <a:latin typeface="Noto Sans SC"/>
                <a:ea typeface="Noto Sans SC"/>
              </a:rPr>
              <a:t>纯</a:t>
            </a:r>
            <a:r>
              <a:rPr lang="en-US" sz="1125">
                <a:solidFill>
                  <a:srgbClr val="2E2A27">
                    <a:alpha val="52000"/>
                  </a:srgbClr>
                </a:solidFill>
                <a:latin typeface="Noto Sans SC"/>
                <a:ea typeface="Noto Sans SC"/>
              </a:rPr>
              <a:t xml:space="preserve"> BM25 </a:t>
            </a:r>
            <a:r>
              <a:rPr lang="zh-CN" sz="1125">
                <a:solidFill>
                  <a:srgbClr val="2E2A27">
                    <a:alpha val="52000"/>
                  </a:srgbClr>
                </a:solidFill>
                <a:latin typeface="Noto Sans SC"/>
                <a:ea typeface="Noto Sans SC"/>
              </a:rPr>
              <a:t>返回的前三段，按「查询词覆盖度」衡量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2495550" y="1905000"/>
            <a:ext cx="9525" cy="2209800"/>
          </a:xfrm>
          <a:prstGeom prst="rect">
            <a:avLst/>
          </a:prstGeom>
          <a:solidFill>
            <a:srgbClr val="2E2A27">
              <a:alpha val="18000"/>
            </a:srgbClr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381750" y="1828800"/>
            <a:ext cx="19050" cy="2286000"/>
          </a:xfrm>
          <a:prstGeom prst="rect">
            <a:avLst/>
          </a:prstGeom>
          <a:solidFill>
            <a:srgbClr val="C0765C">
              <a:alpha val="90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496050" y="18288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C0765C"/>
                </a:solidFill>
                <a:latin typeface="Noto Sans SC"/>
                <a:ea typeface="Noto Sans SC"/>
              </a:rPr>
              <a:t>覆盖度门槛</a:t>
            </a:r>
            <a:r>
              <a:rPr lang="en-US" sz="1050">
                <a:solidFill>
                  <a:srgbClr val="C0765C"/>
                </a:solidFill>
                <a:latin typeface="Noto Sans SC"/>
                <a:ea typeface="Noto Sans SC"/>
              </a:rPr>
              <a:t xml:space="preserve"> 0.34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22479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E2A27"/>
                </a:solidFill>
                <a:latin typeface="Noto Sans SC"/>
                <a:ea typeface="Noto Sans SC"/>
              </a:rPr>
              <a:t>行为动力篇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2495550" y="2152650"/>
            <a:ext cx="3543300" cy="381000"/>
          </a:xfrm>
          <a:prstGeom prst="rect">
            <a:avLst/>
          </a:prstGeom>
          <a:solidFill>
            <a:srgbClr val="6E7C8C">
              <a:alpha val="52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953250" y="2219325"/>
            <a:ext cx="666750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575" b="1">
                <a:solidFill>
                  <a:srgbClr val="2E2A27">
                    <a:alpha val="62000"/>
                  </a:srgbClr>
                </a:solidFill>
                <a:latin typeface="Noto Serif SC"/>
                <a:ea typeface="Noto Serif SC"/>
              </a:rPr>
              <a:t>0.31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E2A27"/>
                </a:solidFill>
                <a:latin typeface="Noto Sans SC"/>
                <a:ea typeface="Noto Sans SC"/>
              </a:rPr>
              <a:t>焦虑与惊恐篇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2495550" y="2933700"/>
            <a:ext cx="2743200" cy="381000"/>
          </a:xfrm>
          <a:prstGeom prst="rect">
            <a:avLst/>
          </a:prstGeom>
          <a:solidFill>
            <a:srgbClr val="6E7C8C">
              <a:alpha val="38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953250" y="3000375"/>
            <a:ext cx="666750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575" b="1">
                <a:solidFill>
                  <a:srgbClr val="2E2A27">
                    <a:alpha val="55000"/>
                  </a:srgbClr>
                </a:solidFill>
                <a:latin typeface="Noto Serif SC"/>
                <a:ea typeface="Noto Serif SC"/>
              </a:rPr>
              <a:t>0.24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38100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E2A27"/>
                </a:solidFill>
                <a:latin typeface="Noto Sans SC"/>
                <a:ea typeface="Noto Sans SC"/>
              </a:rPr>
              <a:t>睡眠与节律篇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2495550" y="3714750"/>
            <a:ext cx="2057400" cy="381000"/>
          </a:xfrm>
          <a:prstGeom prst="rect">
            <a:avLst/>
          </a:prstGeom>
          <a:solidFill>
            <a:srgbClr val="6E7C8C">
              <a:alpha val="26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953250" y="3781425"/>
            <a:ext cx="666750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575" b="1">
                <a:solidFill>
                  <a:srgbClr val="2E2A27">
                    <a:alpha val="48000"/>
                  </a:srgbClr>
                </a:solidFill>
                <a:latin typeface="Noto Serif SC"/>
                <a:ea typeface="Noto Serif SC"/>
              </a:rPr>
              <a:t>0.18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85800" y="4457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7250" y="4343400"/>
            <a:ext cx="5105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三段全部低于门槛</a:t>
            </a:r>
            <a:r>
              <a:rPr lang="en-US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200">
                <a:solidFill>
                  <a:srgbClr val="2E2A27">
                    <a:alpha val="78000"/>
                  </a:srgbClr>
                </a:solidFill>
                <a:latin typeface="Noto Sans SC"/>
                <a:ea typeface="Noto Sans SC"/>
              </a:rPr>
              <a:t>如实返回「知识库中没有直接相关的内容」，不硬凑。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14375" y="4762500"/>
            <a:ext cx="6905625" cy="876300"/>
          </a:xfrm>
          <a:prstGeom prst="rect">
            <a:avLst/>
          </a:prstGeom>
          <a:solidFill>
            <a:srgbClr val="C0765C">
              <a:alpha val="9000"/>
            </a:srgbClr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85800" y="4762500"/>
            <a:ext cx="6934200" cy="876300"/>
          </a:xfrm>
          <a:custGeom>
            <a:pathLst>
              <a:path w="728" h="92">
                <a:moveTo>
                  <a:pt x="0" y="0"/>
                </a:moveTo>
                <a:lnTo>
                  <a:pt x="3" y="0"/>
                </a:lnTo>
                <a:lnTo>
                  <a:pt x="3" y="92"/>
                </a:lnTo>
                <a:lnTo>
                  <a:pt x="0" y="92"/>
                </a:lnTo>
                <a:close/>
              </a:path>
            </a:pathLst>
          </a:custGeom>
          <a:solidFill>
            <a:srgbClr val="C0765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66775" y="4895850"/>
            <a:ext cx="6600825" cy="609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同一套参数下，「睡不着，躺下就开始想工作的事」稳定命中睡眠篇——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门槛挡住的是噪声，不是正常提问。这一条有测试守着。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77200" y="1219200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>PARAMS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077200" y="1419225"/>
            <a:ext cx="3429000" cy="419100"/>
          </a:xfrm>
          <a:custGeom>
            <a:pathLst>
              <a:path w="360" h="44">
                <a:moveTo>
                  <a:pt x="0" y="43"/>
                </a:moveTo>
                <a:lnTo>
                  <a:pt x="360" y="43"/>
                </a:lnTo>
                <a:lnTo>
                  <a:pt x="3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77200" y="15240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E2A27">
                    <a:alpha val="70000"/>
                  </a:srgbClr>
                </a:solidFill>
                <a:latin typeface="Noto Sans SC"/>
                <a:ea typeface="Noto Sans SC"/>
              </a:rPr>
              <a:t>知识库块数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344275" y="1524000"/>
            <a:ext cx="161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2A27"/>
                </a:solidFill>
                <a:latin typeface="Noto Sans SC"/>
                <a:ea typeface="Noto Sans SC"/>
              </a:rPr>
              <a:t>72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077200" y="1828800"/>
            <a:ext cx="3429000" cy="419100"/>
          </a:xfrm>
          <a:custGeom>
            <a:pathLst>
              <a:path w="360" h="44">
                <a:moveTo>
                  <a:pt x="0" y="43"/>
                </a:moveTo>
                <a:lnTo>
                  <a:pt x="360" y="43"/>
                </a:lnTo>
                <a:lnTo>
                  <a:pt x="3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77200" y="1933575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E2A27">
                    <a:alpha val="70000"/>
                  </a:srgbClr>
                </a:solidFill>
                <a:latin typeface="Noto Sans SC"/>
                <a:ea typeface="Noto Sans SC"/>
              </a:rPr>
              <a:t>BM25  k1 / b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906125" y="1933575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2A27"/>
                </a:solidFill>
                <a:latin typeface="Noto Sans SC"/>
                <a:ea typeface="Noto Sans SC"/>
              </a:rPr>
              <a:t>1.5 / 0.75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8077200" y="2238375"/>
            <a:ext cx="3429000" cy="419100"/>
          </a:xfrm>
          <a:custGeom>
            <a:pathLst>
              <a:path w="360" h="44">
                <a:moveTo>
                  <a:pt x="0" y="43"/>
                </a:moveTo>
                <a:lnTo>
                  <a:pt x="360" y="43"/>
                </a:lnTo>
                <a:lnTo>
                  <a:pt x="3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77200" y="23431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E2A27">
                    <a:alpha val="70000"/>
                  </a:srgbClr>
                </a:solidFill>
                <a:latin typeface="Noto Sans SC"/>
                <a:ea typeface="Noto Sans SC"/>
              </a:rPr>
              <a:t>单字权重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229975" y="2343150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2A27"/>
                </a:solidFill>
                <a:latin typeface="Noto Sans SC"/>
                <a:ea typeface="Noto Sans SC"/>
              </a:rPr>
              <a:t>0.35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077200" y="27527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E2A27">
                    <a:alpha val="70000"/>
                  </a:srgbClr>
                </a:solidFill>
                <a:latin typeface="Noto Sans SC"/>
                <a:ea typeface="Noto Sans SC"/>
              </a:rPr>
              <a:t>覆盖度门槛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229975" y="275272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0765C"/>
                </a:solidFill>
                <a:latin typeface="Noto Sans SC"/>
                <a:ea typeface="Noto Sans SC"/>
              </a:rPr>
              <a:t>0.34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077200" y="3762375"/>
            <a:ext cx="3429000" cy="2371725"/>
          </a:xfrm>
          <a:prstGeom prst="rect">
            <a:avLst/>
          </a:prstGeom>
          <a:solidFill>
            <a:srgbClr val="6E7C8C">
              <a:alpha val="9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267700" y="3952875"/>
            <a:ext cx="3048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问题不在排序，在召回。中文没有空格，单字切分会把「行为动力」和「渐近自由」连成一片噪声——所以用二元分词</a:t>
            </a:r>
            <a:r>
              <a:rPr lang="en-US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单字降权，再加一道覆盖度闸门。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67700" y="5353050"/>
            <a:ext cx="3048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 xml:space="preserve">10 </a:t>
            </a:r>
            <a:r>
              <a:rPr lang="zh-CN" sz="1125">
                <a:solidFill>
                  <a:srgbClr val="6E7C8C"/>
                </a:solidFill>
                <a:latin typeface="Noto Sans SC"/>
                <a:ea typeface="Noto Sans SC"/>
              </a:rPr>
              <a:t>篇文档的规模，向量库是纯负债：多一个依赖、多一次网络、多一层不可解释。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迁移不是移植，是重写假设&#13;&#10;        &lt;/Text&gt;&#13;&#10;    &lt;/Box&gt;&#13;&#10;&#13;&#10;    {/* ── 左栏 · 结论 ── */}&#13;&#10;    &lt;Box style={{ position: 'absolute', left: 72, top: 132, width: 300, height: 516, background: 'rgba(110,124,140,0.10)', padding: 28, justifyContent: 'space-between' }}&gt;&#13;&#10;        &lt;Box&gt;&#13;&#10;            &lt;Text style={{ fontSize: 12, letterSpacing: '0.16em', color: '#6E7C8C', marginBottom: 22 }}&gt;MIGRATION&lt;/Text&gt;&#13;&#10;            &lt;Text style={{ fontSize: 44, fontWeight: 'bold', fontFamily: &quot;'Noto Serif SC', Georgia, serif&quot;, color: '#C0765C', lineHeight: 1.1 }}&gt;&#13;&#10;                8&#13;&#10;            &lt;/Text&gt;&#13;&#10;            &lt;Text style={{ fontSize: 20, fontWeight: 'bold', color: '#2E2A27', lineHeight: 1.4, marginTop: 4 }}&gt;&#13;&#10;                个适配点&#13;&#10;            &lt;/Text&gt;&#13;&#10;            &lt;Box style={{ width: 44, height: 3, background: '#C0765C', marginTop: 20, marginBottom: 20 }} /&gt;&#13;&#10;        &lt;/Box&gt;&#13;&#10;        &lt;Text style={{ fontSize: 14, color: 'rgba(46,42,39,0.68)', lineHeight: 1.9 }}&gt;&#13;&#10;            Workers 不是把 Python 跑起来，而是把运行时假设逐条重写：文件系统、常驻进程、中间件、Responses API。&#13;&#10;        &lt;/Text&gt;&#13;&#10;    &lt;/Box&gt;&#13;&#10;&#13;&#10;    {/* ── 右栏 · 8 行对照 ── */}&#13;&#10;    &lt;Box style={{ position: 'absolute', left: 400, top: 132, width: 808, height: 516 }}&gt;&#13;&#10;&#13;&#10;        {/* 表头 */}&#13;&#10;        &lt;Box style={{ flexDirection: 'row', paddingBottom: 8, borderBottom: '1.5px solid rgba(46,42,39,0.35)' }}&gt;&#13;&#10;            &lt;Text style={{ width: 214, fontSize: 12, letterSpacing: '0.1em', color: '#6E7C8C' }}&gt;原实现&lt;/Text&gt;&#13;&#10;            &lt;Text style={{ width: 246, fontSize: 12, letterSpacing: '0.1em', color: '#6E7C8C' }}&gt;为什么不行&lt;/Text&gt;&#13;&#10;            &lt;Text style={{ width: 348, fontSize: 12, letterSpacing: '0.1em', color: '#C0765C' }}&gt;WORKER 版做法&lt;/Text&gt;&#13;&#10;        &lt;/Box&gt;&#13;&#10;&#13;&#10;        &lt;Box style={{ justifyContent: 'space-between', flex: 1, paddingTop: 4 }}&gt;&#13;&#10;&#13;&#10;            &lt;Box style={{ flexDirection: 'row', alignItems: 'center', paddingTop: 9, paddingBottom: 9, borderBottom: '1px solid rgba(46,42,39,0.10)' }}&gt;&#13;&#10;                &lt;Text style={{ width: 214, fontSize: 15, color: '#2E2A27' }}&gt;SQLiteSession&lt;/Text&gt;&#13;&#10;                &lt;Text style={{ width: 246, fontSize: 15, color: 'rgba(46,42,39,0.55)' }}&gt;无文件系统、无常驻进程&lt;/Text&gt;&#13;&#10;                &lt;Text style={{ width: 348, fontSize: 15, color: 'rgba(46,42,39,0.80)' }}&gt;浏览器持 history，每轮回传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读盘 kb_index.json&lt;/Text&gt;&#13;&#10;                &lt;Text style={{ width: 246, fontSize: 15, color: 'rgba(46,42,39,0.55)' }}&gt;Worker 里没有 fs&lt;/Text&gt;&#13;&#10;                &lt;Text style={{ width: 348, fontSize: 15, color: 'rgba(46,42,39,0.80)' }}&gt;构建期编译成 kb.ts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ChatCompletionsModel&lt;/Text&gt;&#13;&#10;                &lt;Text style={{ width: 246, fontSize: 15, color: 'rgba(46,42,39,0.55)' }}&gt;Python 专有类&lt;/Text&gt;&#13;&#10;                &lt;Text style={{ width: 348, fontSize: 15, color: 'rgba(46,42,39,0.80)' }}&gt;OpenAIProvider(useResponses: false)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extra_body&lt;/Text&gt;&#13;&#10;                &lt;Text style={{ width: 246, fontSize: 15, color: 'rgba(46,42,39,0.55)' }}&gt;TS 侧无此参数&lt;/Text&gt;&#13;&#10;                &lt;Text style={{ width: 348, fontSize: 15, color: 'rgba(46,42,39,0.80)' }}&gt;modelSettings.providerData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@function_tool&lt;/Text&gt;&#13;&#10;                &lt;Text style={{ width: 246, fontSize: 15, color: 'rgba(46,42,39,0.55)' }}&gt;Python 装饰器语法&lt;/Text&gt;&#13;&#10;                &lt;Text style={{ width: 348, fontSize: 15, color: 'rgba(46,42,39,0.80)' }}&gt;tool() 声明式注册，参数用 JSON Schema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httpx&lt;/Text&gt;&#13;&#10;                &lt;Text style={{ width: 246, fontSize: 15, color: 'rgba(46,42,39,0.55)' }}&gt;无此依赖&lt;/Text&gt;&#13;&#10;                &lt;Text style={{ width: 348, fontSize: 15, color: 'rgba(46,42,39,0.80)' }}&gt;fetch + AbortSignal.timeout(8s)&lt;/Text&gt;&#13;&#10;            &lt;/Box&gt;&#13;&#10;&#13;&#10;            &lt;Box style={{ flexDirection: 'row', alignItems: 'center', paddingTop: 9, paddingBottom: 9, borderBottom: '1px solid rgba(46,42,39,0.10)' }}&gt;&#13;&#10;                &lt;Text style={{ width: 214, fontSize: 15, color: '#2E2A27' }}&gt;StreamingResponse&lt;/Text&gt;&#13;&#10;                &lt;Text style={{ width: 246, fontSize: 15, color: 'rgba(46,42,39,0.55)' }}&gt;无此 API&lt;/Text&gt;&#13;&#10;                &lt;Text style={{ width: 348, fontSize: 15, color: 'rgba(46,42,39,0.80)' }}&gt;手写 ReadableStream + SSE 帧&lt;/Text&gt;&#13;&#10;            &lt;/Box&gt;&#13;&#10;&#13;&#10;            &lt;Box style={{ flexDirection: 'row', alignItems: 'center', paddingTop: 9, paddingBottom: 9 }}&gt;&#13;&#10;                &lt;Text style={{ width: 214, fontSize: 15, color: '#2E2A27' }}&gt;静态文件挂载&lt;/Text&gt;&#13;&#10;                &lt;Text style={{ width: 246, fontSize: 15, color: 'rgba(46,42,39,0.55)' }}&gt;无中间件栈&lt;/Text&gt;&#13;&#10;                &lt;Text style={{ width: 348, fontSize: 15, color: 'rgba(46,42,39,0.80)' }}&gt;assets 绑定 + run_worker_first&lt;/Text&gt;&#13;&#10;            &lt;/Box&gt;&#13;&#10;&#13;&#10;        &lt;/Box&gt;&#13;&#10;    &lt;/Box&gt;&#13;&#10;&#13;&#10;    &lt;Text style={{ position: 'absolute', right: 72, bottom: 22, fontSize: 14, color: 'rgba(46,42,39,0.45)', letterSpacing: '0.04em' }}&gt;&#13;&#10;        07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41148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迁移不是移植，是重写假设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1257300"/>
            <a:ext cx="2857500" cy="4914900"/>
          </a:xfrm>
          <a:prstGeom prst="rect">
            <a:avLst/>
          </a:prstGeom>
          <a:solidFill>
            <a:srgbClr val="6E7C8C">
              <a:alpha val="10000"/>
            </a:srgbClr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52500" y="152400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>MIGRATION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52500" y="1876425"/>
            <a:ext cx="232410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C0765C"/>
                </a:solidFill>
                <a:latin typeface="Noto Serif SC"/>
                <a:ea typeface="Noto Serif SC"/>
              </a:rPr>
              <a:t>8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52500" y="2476500"/>
            <a:ext cx="23241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E2A27"/>
                </a:solidFill>
                <a:latin typeface="Noto Sans SC"/>
                <a:ea typeface="Noto Sans SC"/>
              </a:rPr>
              <a:t>个适配点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952500" y="2990850"/>
            <a:ext cx="419100" cy="28575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52500" y="4991100"/>
            <a:ext cx="23241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Workers </a:t>
            </a:r>
            <a:r>
              <a:rPr lang="zh-CN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不是把</a:t>
            </a:r>
            <a:r>
              <a:rPr lang="en-US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Python </a:t>
            </a:r>
            <a:r>
              <a:rPr lang="zh-CN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跑起来，而是把运行时假设逐条重写：文件系统、常驻进程、中间件、</a:t>
            </a:r>
            <a:r>
              <a:rPr lang="en-US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Responses API</a:t>
            </a:r>
            <a:r>
              <a:rPr lang="zh-CN" sz="1050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3810000" y="1257300"/>
            <a:ext cx="7696200" cy="257175"/>
          </a:xfrm>
          <a:custGeom>
            <a:pathLst>
              <a:path w="808" h="27">
                <a:moveTo>
                  <a:pt x="0" y="26"/>
                </a:moveTo>
                <a:lnTo>
                  <a:pt x="808" y="26"/>
                </a:lnTo>
                <a:lnTo>
                  <a:pt x="808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E2A27">
              <a:alpha val="35000"/>
            </a:srgbClr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810000" y="1257300"/>
            <a:ext cx="2038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原实现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848350" y="1257300"/>
            <a:ext cx="234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为什么不行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91500" y="125730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0765C"/>
                </a:solidFill>
                <a:latin typeface="Noto Sans SC"/>
                <a:ea typeface="Noto Sans SC"/>
              </a:rPr>
              <a:t xml:space="preserve">WORKER </a:t>
            </a:r>
            <a:r>
              <a:rPr lang="zh-CN" sz="900">
                <a:solidFill>
                  <a:srgbClr val="C0765C"/>
                </a:solidFill>
                <a:latin typeface="Noto Sans SC"/>
                <a:ea typeface="Noto Sans SC"/>
              </a:rPr>
              <a:t>版做法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810000" y="1533525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810000" y="161925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SQLiteSession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848350" y="161925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无文件系统、无常驻进程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0" y="161925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浏览器持</a:t>
            </a: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history</a:t>
            </a: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，每轮回传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810000" y="2143125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10000" y="222885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/>
                </a:solidFill>
                <a:latin typeface="Noto Sans SC"/>
                <a:ea typeface="Noto Sans SC"/>
              </a:rPr>
              <a:t>读盘</a:t>
            </a: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 xml:space="preserve"> kb_index.json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848350" y="222885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Worker </a:t>
            </a: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里没有</a:t>
            </a: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 fs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191500" y="222885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构建期编译成</a:t>
            </a: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kb.ts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0" y="2762250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0" y="2847975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ChatCompletionsModel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848350" y="284797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Python </a:t>
            </a: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专有类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191500" y="284797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OpenAIProvider(useResponses: false)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0" y="3371850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810000" y="3457575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extra_body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848350" y="345757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TS </a:t>
            </a: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侧无此参数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191500" y="345757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modelSettings.providerData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0" y="3990975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0" y="407670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@function_tool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848350" y="407670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Python </a:t>
            </a: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装饰器语法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91500" y="407670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tool() </a:t>
            </a: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声明式注册，参数用</a:t>
            </a: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JSON Schema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0" y="4600575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810000" y="468630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httpx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848350" y="468630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无此依赖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91500" y="468630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fetch + AbortSignal.timeout(8s)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0" y="5219700"/>
            <a:ext cx="7696200" cy="361950"/>
          </a:xfrm>
          <a:custGeom>
            <a:pathLst>
              <a:path w="808" h="38">
                <a:moveTo>
                  <a:pt x="0" y="37"/>
                </a:moveTo>
                <a:lnTo>
                  <a:pt x="808" y="37"/>
                </a:lnTo>
                <a:lnTo>
                  <a:pt x="808" y="38"/>
                </a:lnTo>
                <a:lnTo>
                  <a:pt x="0" y="38"/>
                </a:lnTo>
                <a:close/>
              </a:path>
            </a:pathLst>
          </a:custGeom>
          <a:solidFill>
            <a:srgbClr val="2E2A27">
              <a:alpha val="10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0" y="5305425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/>
                </a:solidFill>
                <a:latin typeface="Noto Sans SC"/>
                <a:ea typeface="Noto Sans SC"/>
              </a:rPr>
              <a:t>StreamingResponse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848350" y="530542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无此</a:t>
            </a:r>
            <a:r>
              <a:rPr lang="en-US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 xml:space="preserve"> API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191500" y="530542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手写</a:t>
            </a: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ReadableStream + SSE </a:t>
            </a: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帧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0" y="5915025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/>
                </a:solidFill>
                <a:latin typeface="Noto Sans SC"/>
                <a:ea typeface="Noto Sans SC"/>
              </a:rPr>
              <a:t>静态文件挂载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848350" y="591502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无中间件栈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191500" y="591502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assets </a:t>
            </a:r>
            <a:r>
              <a:rPr lang="zh-CN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绑定</a:t>
            </a:r>
            <a:r>
              <a:rPr lang="en-US" sz="1125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+ run_worker_first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 style={{ width: 1280, height: 720, background: '#FBF7F2', padding: 0, position: 'relative', fontFamily: &quot;'Noto Sans SC', system-ui, sans-serif&quot; }}&gt;&#10;&#10;    {/* ── A 区 · 标题块 ── */}&#10;    &lt;Box style={{ position: 'absolute', left: 72, top: 46, flexDirection: 'row', alignItems: 'center', gap: 18 }}&gt;&#10;        &lt;Box style={{ width: 4, height: 30, background: '#C0765C' }} /&gt;&#10;        &lt;Text style={{ fontSize: 36, fontWeight: 'bold', fontFamily: &quot;'Noto Serif SC', Georgia, serif&quot;, color: '#2E2A27', lineHeight: 1.3 }}&gt;&#10;            116 条测试，锁住的是红线&#10;        &lt;/Text&gt;&#10;    &lt;/Box&gt;&#10;&#10;    {/* ── 左 58% · 测试分布 ── */}&#10;    &lt;Box style={{ position: 'absolute', left: 72, top: 136, width: 658 }}&gt;&#10;&#10;        &lt;Text style={{ fontSize: 12, letterSpacing: '0.16em', color: '#6E7C8C', marginBottom: 20 }}&gt;DISTRIBUTION · 两端同源用例&lt;/Text&gt;&#10;&#10;        {/* Python */}&#10;        &lt;Box style={{ flexDirection: 'row', alignItems: 'flex-end', gap: 14 }}&gt;&#10;            &lt;Text style={{ fontSize: 60, fontWeight: 'bold', fontFamily: &quot;'Noto Serif SC', Georgia, serif&quot;, color: '#C0765C', lineHeight: 1.0 }}&gt;60&lt;/Text&gt;&#10;            &lt;Text style={{ fontSize: 18, fontWeight: 'bold', color: '#2E2A27', marginBottom: 8 }}&gt;Python&lt;/Text&gt;&#10;            &lt;Text style={{ fontSize: 15, color: 'rgba(46,42,39,0.52)', marginBottom: 9 }}&gt;pytest&lt;/Text&gt;&#10;        &lt;/Box&gt;&#10;&#10;        &lt;Box style={{ flexDirection: 'row', height: 38, marginTop: 14 }}&gt;&#10;            &lt;Box style={{ width: 355, height: 38, background: 'rgba(192,118,92,0.72)' }} /&gt;&#10;            &lt;Box style={{ width: 112, height: 38, background: 'rgba(110,124,140,0.42)' }} /&gt;&#10;            &lt;Box style={{ width: 93, height: 38, background: 'rgba(110,124,140,0.20)' }} /&gt;&#10;        &lt;/Box&gt;&#10;        &lt;Text style={{ fontSize: 15, color: 'rgba(46,42,39,0.68)', marginTop: 9 }}&gt;&#10;            安全 38　·　工具与检索 12　·　Agent 装配 10&#10;        &lt;/Text&gt;&#10;&#10;        &lt;Box style={{ height: 1, background: 'rgba(46,42,39,0.12)', marginTop: 30, marginBottom: 30 }} /&gt;&#10;&#10;        {/* TypeScript */}&#10;        &lt;Box style={{ flexDirection: 'row', alignItems: 'flex-end', gap: 14 }}&gt;&#10;            &lt;Text style={{ fontSize: 60, fontWeight: 'bold', fontFamily: &quot;'Noto Serif SC', Georgia, serif&quot;, color: '#C0765C', lineHeight: 1.0 }}&gt;56&lt;/Text&gt;&#10;            &lt;Text style={{ fontSize: 18, fontWeight: 'bold', color: '#2E2A27', marginBottom: 8 }}&gt;TypeScript&lt;/Text&gt;&#10;            &lt;Text style={{ fontSize: 15, color: 'rgba(46,42,39,0.52)', marginBottom: 9 }}&gt;vitest&lt;/Text&gt;&#10;        &lt;/Box&gt;&#10;&#10;        &lt;Box style={{ flexDirection: 'row', height: 38, marginTop: 14 }}&gt;&#10;            &lt;Box style={{ width: 364, height: 38, background: 'rgba(192,118,92,0.72)' }} /&gt;&#10;            &lt;Box style={{ width: 159, height: 38, background: 'rgba(110,124,140,0.42)' }} /&gt;&#10;        &lt;/Box&gt;&#10;        &lt;Text style={{ fontSize: 15, color: 'rgba(46,42,39,0.68)', marginTop: 9 }}&gt;&#10;            安全 39　·　工具与检索 17&#10;        &lt;/Text&gt;&#10;&#10;        &lt;Box style={{ flexDirection: 'row', alignItems: 'center', gap: 22, marginTop: 34 }}&gt;&#10;            &lt;Box style={{ flexDirection: 'row', alignItems: 'center', gap: 7 }}&gt;&#10;                &lt;Box style={{ width: 12, height: 12, background: 'rgba(192,118,92,0.72)' }} /&gt;&#10;                &lt;Text style={{ fontSize: 14, color: 'rgba(46,42,39,0.62)' }}&gt;安全层&lt;/Text&gt;&#10;            &lt;/Box&gt;&#10;            &lt;Box style={{ flexDirection: 'row', alignItems: 'center', gap: 7 }}&gt;&#10;                &lt;Box style={{ width: 12, height: 12, background: 'rgba(110,124,140,0.42)' }} /&gt;&#10;                &lt;Text style={{ fontSize: 14, color: 'rgba(46,42,39,0.62)' }}&gt;工具与检索&lt;/Text&gt;&#10;            &lt;/Box&gt;&#10;            &lt;Box style={{ flexDirection: 'row', alignItems: 'center', gap: 7 }}&gt;&#10;                &lt;Box style={{ width: 12, height: 12, background: 'rgba(110,124,140,0.20)' }} /&gt;&#10;                &lt;Text style={{ fontSize: 14, color: 'rgba(46,42,39,0.62)' }}&gt;Agent 装配&lt;/Text&gt;&#10;            &lt;/Box&gt;&#10;        &lt;/Box&gt;&#10;&#10;    &lt;/Box&gt;&#10;&#10;    {/* ── 右 42% · 三条非直觉测试 ── */}&#10;    &lt;Box style={{ position: 'absolute', left: 764, top: 136, width: 444, height: 500, justifyContent: 'space-between' }}&gt;&#10;&#10;        &lt;Box&gt;&#10;            &lt;Text style={{ fontSize: 12, letterSpacing: '0.16em', color: '#6E7C8C', marginBottom: 22 }}&gt;NOT OBVIOUS · 三条非直觉测试&lt;/Text&gt;&#10;&#10;            &lt;Box style={{ marginBottom: 24 }}&gt;&#10;                &lt;Text style={{ fontSize: 17, fontWeight: 'bold', color: '#2E2A27', lineHeight: 1.5 }}&gt;① 提示词里不许有 5 位以上数字&lt;/Text&gt;&#10;                &lt;Text style={{ fontSize: 15, color: 'rgba(46,42,39,0.66)', lineHeight: 1.65, marginTop: 6 }}&gt;&#10;                    正则扫 system.md 与 knowledge/。防的是模型凭记忆编号码——号码只能来自常量表。&#10;                &lt;/Text&gt;&#10;            &lt;/Box&gt;&#10;&#10;            &lt;Box style={{ marginBottom: 24 }}&gt;&#10;                &lt;Text style={{ fontSize: 17, fontWeight: 'bold', color: '#2E2A27', lineHeight: 1.5 }}&gt;② 热线常量必须在护栏白名单里&lt;/Text&gt;&#10;                &lt;Text style={{ fontSize: 15, color: 'rgba(46,42,39,0.66)', lineHeight: 1.65, marginTop: 6 }}&gt;&#10;                    否则输出护栏会把它当成「编造的号码」替换掉——自己人打自己人。&#10;                &lt;/Text&gt;&#10;            &lt;/Box&gt;&#10;&#10;            &lt;Box&gt;&#10;                &lt;Text style={{ fontSize: 17, fontWeight: 'bold', color: '#2E2A27', lineHeight: 1.5 }}&gt;③ L2 断言 scripted 为真、工具为空&lt;/Text&gt;&#10;                &lt;Text style={{ fontSize: 15, color: 'rgba(46,42,39,0.66)', lineHeight: 1.65, marginTop: 6 }}&gt;&#10;                    这条测的不是文案，是「模型真的没被调用」。架构倒置一旦被谁改回去，它立刻红。&#10;                &lt;/Text&gt;&#10;            &lt;/Box&gt;&#10;        &lt;/Box&gt;&#10;&#10;        &lt;Box style={{ background: 'rgba(192,118,92,0.09)', borderLeft: '3px solid #C0765C', paddingTop: 16, paddingBottom: 16, paddingLeft: 18, paddingRight: 18 }}&gt;&#10;            &lt;Text style={{ fontSize: 16, color: 'rgba(46,42,39,0.85)', lineHeight: 1.7 }}&gt;&#10;                安全逻辑的正确性不能靠人眼 review。&lt;br /&gt;&#10;                红线一旦回归，就是事故。&#10;            &lt;/Text&gt;&#10;        &lt;/Box&gt;&#10;&#10;    &lt;/Box&gt;&#10;&#10;    &lt;Text style={{ position: 'absolute', right: 72, bottom: 22, fontSize: 14, color: 'rgba(46,42,39,0.45)', letterSpacing: '0.04em' }}&gt;&#10;        08 / 10&#10;  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40290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2E2A27"/>
                </a:solidFill>
                <a:latin typeface="Noto Serif SC"/>
                <a:ea typeface="Noto Serif SC"/>
              </a:rPr>
              <a:t xml:space="preserve">116 </a:t>
            </a: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条测试，锁住的是红线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1295400"/>
            <a:ext cx="626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 xml:space="preserve">DISTRIBUTION · </a:t>
            </a: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两端同源用例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6286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C0765C"/>
                </a:solidFill>
                <a:latin typeface="Noto Serif SC"/>
                <a:ea typeface="Noto Serif SC"/>
              </a:rPr>
              <a:t>60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447800" y="2028825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2A27"/>
                </a:solidFill>
                <a:latin typeface="Noto Sans SC"/>
                <a:ea typeface="Noto Sans SC"/>
              </a:rPr>
              <a:t>Python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124075" y="2057400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2000"/>
                  </a:srgbClr>
                </a:solidFill>
                <a:latin typeface="Noto Sans SC"/>
                <a:ea typeface="Noto Sans SC"/>
              </a:rPr>
              <a:t>pytest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85800" y="2447925"/>
            <a:ext cx="3381375" cy="361950"/>
          </a:xfrm>
          <a:prstGeom prst="rect">
            <a:avLst/>
          </a:prstGeom>
          <a:solidFill>
            <a:srgbClr val="C0765C">
              <a:alpha val="72000"/>
            </a:srgbClr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4067175" y="2447925"/>
            <a:ext cx="1066800" cy="361950"/>
          </a:xfrm>
          <a:prstGeom prst="rect">
            <a:avLst/>
          </a:prstGeom>
          <a:solidFill>
            <a:srgbClr val="6E7C8C">
              <a:alpha val="42000"/>
            </a:srgbClr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5133975" y="2447925"/>
            <a:ext cx="885825" cy="361950"/>
          </a:xfrm>
          <a:prstGeom prst="rect">
            <a:avLst/>
          </a:prstGeom>
          <a:solidFill>
            <a:srgbClr val="6E7C8C">
              <a:alpha val="20000"/>
            </a:srgbClr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267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安全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38</a:t>
            </a: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　·　工具与检索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12</a:t>
            </a: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　·　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装配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10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85800" y="3352800"/>
            <a:ext cx="6267450" cy="9525"/>
          </a:xfrm>
          <a:prstGeom prst="rect">
            <a:avLst/>
          </a:prstGeom>
          <a:solidFill>
            <a:srgbClr val="2E2A27">
              <a:alpha val="12000"/>
            </a:srgbClr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5800" y="3648075"/>
            <a:ext cx="6286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C0765C"/>
                </a:solidFill>
                <a:latin typeface="Noto Serif SC"/>
                <a:ea typeface="Noto Serif SC"/>
              </a:rPr>
              <a:t>56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447800" y="404812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2A27"/>
                </a:solidFill>
                <a:latin typeface="Noto Sans SC"/>
                <a:ea typeface="Noto Sans SC"/>
              </a:rPr>
              <a:t>TypeScript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2381250" y="4076700"/>
            <a:ext cx="33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E2A27">
                    <a:alpha val="52000"/>
                  </a:srgbClr>
                </a:solidFill>
                <a:latin typeface="Noto Sans SC"/>
                <a:ea typeface="Noto Sans SC"/>
              </a:rPr>
              <a:t>vitest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85800" y="4467225"/>
            <a:ext cx="3467100" cy="361950"/>
          </a:xfrm>
          <a:prstGeom prst="rect">
            <a:avLst/>
          </a:prstGeom>
          <a:solidFill>
            <a:srgbClr val="C0765C">
              <a:alpha val="72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4152900" y="4467225"/>
            <a:ext cx="1514475" cy="361950"/>
          </a:xfrm>
          <a:prstGeom prst="rect">
            <a:avLst/>
          </a:prstGeom>
          <a:solidFill>
            <a:srgbClr val="6E7C8C">
              <a:alpha val="42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" y="4914900"/>
            <a:ext cx="6267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安全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39</a:t>
            </a:r>
            <a:r>
              <a:rPr lang="zh-CN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>　·　工具与检索</a:t>
            </a:r>
            <a:r>
              <a:rPr lang="en-US" sz="1125">
                <a:solidFill>
                  <a:srgbClr val="2E2A27">
                    <a:alpha val="68000"/>
                  </a:srgbClr>
                </a:solidFill>
                <a:latin typeface="Noto Sans SC"/>
                <a:ea typeface="Noto Sans SC"/>
              </a:rPr>
              <a:t xml:space="preserve"> 17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85800" y="5438775"/>
            <a:ext cx="114300" cy="114300"/>
          </a:xfrm>
          <a:prstGeom prst="rect">
            <a:avLst/>
          </a:prstGeom>
          <a:solidFill>
            <a:srgbClr val="C0765C">
              <a:alpha val="72000"/>
            </a:srgbClr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66775" y="5410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安全层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1476375" y="5438775"/>
            <a:ext cx="114300" cy="114300"/>
          </a:xfrm>
          <a:prstGeom prst="rect">
            <a:avLst/>
          </a:prstGeom>
          <a:solidFill>
            <a:srgbClr val="6E7C8C">
              <a:alpha val="42000"/>
            </a:srgbClr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657350" y="54102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工具与检索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2533650" y="5438775"/>
            <a:ext cx="114300" cy="114300"/>
          </a:xfrm>
          <a:prstGeom prst="rect">
            <a:avLst/>
          </a:prstGeom>
          <a:solidFill>
            <a:srgbClr val="6E7C8C">
              <a:alpha val="20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714625" y="541020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050">
                <a:solidFill>
                  <a:srgbClr val="2E2A27">
                    <a:alpha val="62000"/>
                  </a:srgbClr>
                </a:solidFill>
                <a:latin typeface="Noto Sans SC"/>
                <a:ea typeface="Noto Sans SC"/>
              </a:rPr>
              <a:t>装配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277100" y="129540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 xml:space="preserve">NOT OBVIOUS · </a:t>
            </a: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三条非直觉测试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277100" y="1647825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2E2A27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提示词里不许有</a:t>
            </a:r>
            <a:r>
              <a:rPr lang="en-US" sz="1275" b="1">
                <a:solidFill>
                  <a:srgbClr val="2E2A27"/>
                </a:solidFill>
                <a:latin typeface="Noto Sans SC"/>
                <a:ea typeface="Noto Sans SC"/>
              </a:rPr>
              <a:t xml:space="preserve"> 5 </a:t>
            </a: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位以上数字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277100" y="2000250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>正则扫</a:t>
            </a:r>
            <a:r>
              <a:rPr lang="en-US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 xml:space="preserve"> system.md </a:t>
            </a:r>
            <a:r>
              <a:rPr lang="zh-CN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>与</a:t>
            </a:r>
            <a:r>
              <a:rPr lang="en-US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 xml:space="preserve"> knowledge/</a:t>
            </a:r>
            <a:r>
              <a:rPr lang="zh-CN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>。防的是模型凭记忆编号码——号码只能来自常量表。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277100" y="2800350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2E2A27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热线常量必须在护栏白名单里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277100" y="3152775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>否则输出护栏会把它当成「编造的号码」替换掉——自己人打自己人。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277100" y="3952875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2E2A27"/>
                </a:solidFill>
                <a:latin typeface="Noto Sans SC"/>
                <a:ea typeface="Noto Sans SC"/>
              </a:rPr>
              <a:t xml:space="preserve">③ L2 </a:t>
            </a: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断言</a:t>
            </a:r>
            <a:r>
              <a:rPr lang="en-US" sz="1275" b="1">
                <a:solidFill>
                  <a:srgbClr val="2E2A27"/>
                </a:solidFill>
                <a:latin typeface="Noto Sans SC"/>
                <a:ea typeface="Noto Sans SC"/>
              </a:rPr>
              <a:t xml:space="preserve"> scripted </a:t>
            </a:r>
            <a:r>
              <a:rPr lang="zh-CN" sz="1275" b="1">
                <a:solidFill>
                  <a:srgbClr val="2E2A27"/>
                </a:solidFill>
                <a:latin typeface="Noto Sans SC"/>
                <a:ea typeface="Noto Sans SC"/>
              </a:rPr>
              <a:t>为真、工具为空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277100" y="4305300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E2A27">
                    <a:alpha val="66000"/>
                  </a:srgbClr>
                </a:solidFill>
                <a:latin typeface="Noto Sans SC"/>
                <a:ea typeface="Noto Sans SC"/>
              </a:rPr>
              <a:t>这条测的不是文案，是「模型真的没被调用」。架构倒置一旦被谁改回去，它立刻红。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305675" y="5124450"/>
            <a:ext cx="4229100" cy="933450"/>
          </a:xfrm>
          <a:prstGeom prst="rect">
            <a:avLst/>
          </a:prstGeom>
          <a:solidFill>
            <a:srgbClr val="C0765C">
              <a:alpha val="9000"/>
            </a:srgbClr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7277100" y="5124450"/>
            <a:ext cx="4257675" cy="933450"/>
          </a:xfrm>
          <a:custGeom>
            <a:pathLst>
              <a:path w="447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C0765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477125" y="5276850"/>
            <a:ext cx="38576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安全逻辑的正确性不能靠人眼</a:t>
            </a:r>
            <a:r>
              <a:rPr lang="en-US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 xml:space="preserve"> review</a:t>
            </a: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5000"/>
                  </a:srgbClr>
                </a:solidFill>
                <a:latin typeface="Noto Sans SC"/>
                <a:ea typeface="Noto Sans SC"/>
              </a:rPr>
              <a:t>红线一旦回归，就是事故。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72" name="" descr="&lt;Slide style={{ width: 1280, height: 720, background: '#FBF7F2', padding: 0, position: 'relative', fontFamily: &quot;'Noto Sans SC', system-ui, sans-serif&quot; }}&gt;&#13;&#10;&#13;&#10;    {/* ── A 区 · 标题块 ── */}&#13;&#10;    &lt;Box style={{ position: 'absolute', left: 72, top: 46, flexDirection: 'row', alignItems: 'center', gap: 18 }}&gt;&#13;&#10;        &lt;Box style={{ width: 4, height: 30, background: '#C0765C' }} /&gt;&#13;&#10;        &lt;Text style={{ fontSize: 36, fontWeight: 'bold', fontFamily: &quot;'Noto Serif SC', Georgia, serif&quot;, color: '#2E2A27', lineHeight: 1.3 }}&gt;&#13;&#10;            三笔技术债，第一笔是结构性的&#13;&#10;        &lt;/Text&gt;&#13;&#10;    &lt;/Box&gt;&#13;&#10;&#13;&#10;    {/* ── B 区上 · 债务权重（占 44%） ── */}&#13;&#10;    &lt;Box style={{ position: 'absolute', left: 72, top: 134, width: 1136, height: 240 }}&gt;&#13;&#10;&#13;&#10;        &lt;Text style={{ fontSize: 12, letterSpacing: '0.16em', color: '#6E7C8C', marginBottom: 18 }}&gt;DEBT WEIGHT · 按「会不会自己变好」排序&lt;/Text&gt;&#13;&#10;&#13;&#10;        {/* 第 1 笔 */}&#13;&#10;        &lt;Box style={{ flexDirection: 'row', alignItems: 'center', marginBottom: 20 }}&gt;&#13;&#10;            &lt;Text style={{ width: 250, fontSize: 19, fontWeight: 'bold', color: '#2E2A27' }}&gt;双运行时手写镜像&lt;/Text&gt;&#13;&#10;            &lt;Box style={{ width: 740, height: 52, background: 'rgba(192,118,92,0.80)' }} /&gt;&#13;&#10;            &lt;Box style={{ flex: 1 }} /&gt;&#13;&#10;            &lt;Text style={{ width: 110, textAlign: 'right', fontSize: 15, color: '#C0765C' }}&gt;会持续恶化&lt;/Text&gt;&#13;&#10;        &lt;/Box&gt;&#13;&#10;&#13;&#10;        {/* 第 2 笔 */}&#13;&#10;        &lt;Box style={{ flexDirection: 'row', alignItems: 'center', marginBottom: 20 }}&gt;&#13;&#10;            &lt;Text style={{ width: 250, fontSize: 19, fontWeight: 'bold', color: '#2E2A27' }}&gt;无状态失忆&lt;/Text&gt;&#13;&#10;            &lt;Box style={{ width: 404, height: 52, background: 'rgba(110,124,140,0.34)' }} /&gt;&#13;&#10;            &lt;Box style={{ flex: 1 }} /&gt;&#13;&#10;            &lt;Text style={{ width: 110, textAlign: 'right', fontSize: 15, color: 'rgba(46,42,39,0.55)' }}&gt;已接受&lt;/Text&gt;&#13;&#10;        &lt;/Box&gt;&#13;&#10;&#13;&#10;        {/* 第 3 笔 */}&#13;&#10;        &lt;Box style={{ flexDirection: 'row', alignItems: 'center' }}&gt;&#13;&#10;            &lt;Text style={{ width: 250, fontSize: 19, fontWeight: 'bold', color: '#2E2A27' }}&gt;块式流式&lt;/Text&gt;&#13;&#10;            &lt;Box style={{ width: 218, height: 52, background: 'rgba(110,124,140,0.20)' }} /&gt;&#13;&#10;            &lt;Box style={{ flex: 1 }} /&gt;&#13;&#10;            &lt;Text style={{ width: 110, textAlign: 'right', fontSize: 15, color: 'rgba(46,42,39,0.55)' }}&gt;已抹平&lt;/Text&gt;&#13;&#10;        &lt;/Box&gt;&#13;&#10;&#13;&#10;    &lt;/Box&gt;&#13;&#10;&#13;&#10;    {/* ── B 区下 · 三张不等宽卡片 ── */}&#13;&#10;    &lt;Box style={{ position: 'absolute', left: 72, top: 396, width: 1136, height: 244, flexDirection: 'row', gap: 18 }}&gt;&#13;&#10;&#13;&#10;        &lt;Box style={{ width: 460, background: 'rgba(192,118,92,0.10)', padding: 24, justifyContent: 'space-between' }}&gt;&#13;&#10;            &lt;Box&gt;&#13;&#10;                &lt;Text style={{ fontSize: 12, letterSpacing: '0.14em', color: '#C0765C', marginBottom: 10 }}&gt;01 · STRUCTURAL&lt;/Text&gt;&#13;&#10;                &lt;Text style={{ fontSize: 21, fontWeight: 'bold', fontFamily: &quot;'Noto Serif SC', Georgia, serif&quot;, color: '#2E2A27', lineHeight: 1.4 }}&gt;&#13;&#10;                    改红线要改两遍&#13;&#10;                &lt;/Text&gt;&#13;&#10;                &lt;Text style={{ fontSize: 16, color: 'rgba(46,42,39,0.80)', lineHeight: 1.7, marginTop: 10 }}&gt;&#13;&#10;                    词表、分级、护栏、危机话术各有两份。规则越多越容易走样，且没有收敛点——只能靠两端跑同一批用例。&#13;&#10;                &lt;/Text&gt;&#13;&#10;            &lt;/Box&gt;&#13;&#10;            &lt;Text style={{ fontSize: 14, color: '#C0765C', marginTop: 12 }}&gt;唯一解：共享层，或只保留一个运行时&lt;/Text&gt;&#13;&#10;        &lt;/Box&gt;&#13;&#10;&#13;&#10;        &lt;Box style={{ width: 340, background: 'rgba(110,124,140,0.08)', padding: 24, justifyContent: 'space-between' }}&gt;&#13;&#10;            &lt;Box&gt;&#13;&#10;                &lt;Text style={{ fontSize: 12, letterSpacing: '0.14em', color: '#6E7C8C', marginBottom: 10 }}&gt;02 · ACCEPTED&lt;/Text&gt;&#13;&#10;                &lt;Text style={{ fontSize: 21, fontWeight: 'bold', fontFamily: &quot;'Noto Serif SC', Georgia, serif&quot;, color: '#2E2A27', lineHeight: 1.4 }}&gt;&#13;&#10;                    刷新即失忆&#13;&#10;                &lt;/Text&gt;&#13;&#10;                &lt;Text style={{ fontSize: 16, color: 'rgba(46,42,39,0.80)', lineHeight: 1.7, marginTop: 10 }}&gt;&#13;&#10;                    历史由浏览器持有，每轮重传 10 轮、单轮截 800 字。服务端零用户数据。&#13;&#10;                &lt;/Text&gt;&#13;&#10;            &lt;/Box&gt;&#13;&#10;            &lt;Text style={{ fontSize: 14, color: '#6E7C8C', marginTop: 12 }}&gt;代价可量化&lt;/Text&gt;&#13;&#10;        &lt;/Box&gt;&#13;&#10;&#13;&#10;        &lt;Box style={{ width: 300, background: 'rgba(110,124,140,0.05)', padding: 24, justifyContent: 'space-between' }}&gt;&#13;&#10;            &lt;Box&gt;&#13;&#10;                &lt;Text style={{ fontSize: 12, letterSpacing: '0.14em', color: '#6E7C8C', marginBottom: 10 }}&gt;03 · MITIGATED&lt;/Text&gt;&#13;&#10;                &lt;Text style={{ fontSize: 21, fontWeight: 'bold', fontFamily: &quot;'Noto Serif SC', Georgia, serif&quot;, color: '#2E2A27', lineHeight: 1.4 }}&gt;&#13;&#10;                    流式是块状的&#13;&#10;                &lt;/Text&gt;&#13;&#10;                &lt;Text style={{ fontSize: 16, color: 'rgba(46,42,39,0.80)', lineHeight: 1.7, marginTop: 10 }}&gt;&#13;&#10;                    Mercury 一次吐 2–4 块。前端按 12ms/字补间，后端不做假延迟。&#13;&#10;                &lt;/Text&gt;&#13;&#10;            &lt;/Box&gt;&#13;&#10;            &lt;Text style={{ fontSize: 14, color: '#6E7C8C', marginTop: 12 }}&gt;纯前端问题&lt;/Text&gt;&#13;&#10;        &lt;/Box&gt;&#13;&#10;&#13;&#10;    &lt;/Box&gt;&#13;&#10;&#13;&#10;    &lt;Text style={{ position: 'absolute', right: 72, bottom: 22, fontSize: 14, color: 'rgba(46,42,39,0.45)', letterSpacing: '0.04em' }}&gt;&#13;&#10;        09 / 10&#13;&#10;    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85800" y="571500"/>
            <a:ext cx="38100" cy="285750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95350" y="438150"/>
            <a:ext cx="48006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2E2A27"/>
                </a:solidFill>
                <a:latin typeface="Noto Serif SC"/>
                <a:ea typeface="Noto Serif SC"/>
              </a:rPr>
              <a:t>三笔技术债，第一笔是结构性的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10820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 xml:space="preserve">DEBT WEIGHT · </a:t>
            </a:r>
            <a:r>
              <a:rPr lang="zh-CN" sz="900">
                <a:solidFill>
                  <a:srgbClr val="6E7C8C"/>
                </a:solidFill>
                <a:latin typeface="Noto Sans SC"/>
                <a:ea typeface="Noto Sans SC"/>
              </a:rPr>
              <a:t>按「会不会自己变好」排序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173355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2A27"/>
                </a:solidFill>
                <a:latin typeface="Noto Sans SC"/>
                <a:ea typeface="Noto Sans SC"/>
              </a:rPr>
              <a:t>双运行时手写镜像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067050" y="1590675"/>
            <a:ext cx="7048500" cy="495300"/>
          </a:xfrm>
          <a:prstGeom prst="rect">
            <a:avLst/>
          </a:prstGeom>
          <a:solidFill>
            <a:srgbClr val="C0765C">
              <a:alpha val="80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458450" y="1752600"/>
            <a:ext cx="10477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C0765C"/>
                </a:solidFill>
                <a:latin typeface="Noto Sans SC"/>
                <a:ea typeface="Noto Sans SC"/>
              </a:rPr>
              <a:t>会持续恶化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241935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2A27"/>
                </a:solidFill>
                <a:latin typeface="Noto Sans SC"/>
                <a:ea typeface="Noto Sans SC"/>
              </a:rPr>
              <a:t>无状态失忆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3067050" y="2276475"/>
            <a:ext cx="3848100" cy="495300"/>
          </a:xfrm>
          <a:prstGeom prst="rect">
            <a:avLst/>
          </a:prstGeom>
          <a:solidFill>
            <a:srgbClr val="6E7C8C">
              <a:alpha val="34000"/>
            </a:srgbClr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458450" y="2438400"/>
            <a:ext cx="10477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已接受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2A27"/>
                </a:solidFill>
                <a:latin typeface="Noto Sans SC"/>
                <a:ea typeface="Noto Sans SC"/>
              </a:rPr>
              <a:t>块式流式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067050" y="2962275"/>
            <a:ext cx="2076450" cy="495300"/>
          </a:xfrm>
          <a:prstGeom prst="rect">
            <a:avLst/>
          </a:prstGeom>
          <a:solidFill>
            <a:srgbClr val="6E7C8C">
              <a:alpha val="20000"/>
            </a:srgbClr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458450" y="3124200"/>
            <a:ext cx="10477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2E2A27">
                    <a:alpha val="55000"/>
                  </a:srgbClr>
                </a:solidFill>
                <a:latin typeface="Noto Sans SC"/>
                <a:ea typeface="Noto Sans SC"/>
              </a:rPr>
              <a:t>已抹平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85800" y="3771900"/>
            <a:ext cx="4381500" cy="2324100"/>
          </a:xfrm>
          <a:prstGeom prst="rect">
            <a:avLst/>
          </a:prstGeom>
          <a:solidFill>
            <a:srgbClr val="C0765C">
              <a:alpha val="10000"/>
            </a:srgbClr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14400" y="4000500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0765C"/>
                </a:solidFill>
                <a:latin typeface="Noto Sans SC"/>
                <a:ea typeface="Noto Sans SC"/>
              </a:rPr>
              <a:t>01 · STRUCTURAL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14400" y="4238625"/>
            <a:ext cx="39243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2E2A27"/>
                </a:solidFill>
                <a:latin typeface="Noto Serif SC"/>
                <a:ea typeface="Noto Serif SC"/>
              </a:rPr>
              <a:t>改红线要改两遍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14400" y="4676775"/>
            <a:ext cx="3924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词表、分级、护栏、危机话术各有两份。规则越多越容易走样，且没有收敛点——只能靠两端跑同一批用例。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14400" y="5705475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0765C"/>
                </a:solidFill>
                <a:latin typeface="Noto Sans SC"/>
                <a:ea typeface="Noto Sans SC"/>
              </a:rPr>
              <a:t>唯一解：共享层，或只保留一个运行时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238750" y="3771900"/>
            <a:ext cx="3238500" cy="2324100"/>
          </a:xfrm>
          <a:prstGeom prst="rect">
            <a:avLst/>
          </a:prstGeom>
          <a:solidFill>
            <a:srgbClr val="6E7C8C">
              <a:alpha val="8000"/>
            </a:srgbClr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467350" y="4000500"/>
            <a:ext cx="2781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>02 · ACCEPTED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467350" y="4238625"/>
            <a:ext cx="27813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2E2A27"/>
                </a:solidFill>
                <a:latin typeface="Noto Serif SC"/>
                <a:ea typeface="Noto Serif SC"/>
              </a:rPr>
              <a:t>刷新即失忆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467350" y="4676775"/>
            <a:ext cx="278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历史由浏览器持有，每轮重传</a:t>
            </a:r>
            <a:r>
              <a:rPr lang="en-US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10 </a:t>
            </a: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轮、单轮截</a:t>
            </a:r>
            <a:r>
              <a:rPr lang="en-US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800 </a:t>
            </a: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字。服务端零用户数据。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467350" y="5705475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C8C"/>
                </a:solidFill>
                <a:latin typeface="Noto Sans SC"/>
                <a:ea typeface="Noto Sans SC"/>
              </a:rPr>
              <a:t>代价可量化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8648700" y="3771900"/>
            <a:ext cx="2857500" cy="2324100"/>
          </a:xfrm>
          <a:prstGeom prst="rect">
            <a:avLst/>
          </a:prstGeom>
          <a:solidFill>
            <a:srgbClr val="6E7C8C">
              <a:alpha val="5000"/>
            </a:srgbClr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877300" y="4000500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C8C"/>
                </a:solidFill>
                <a:latin typeface="Noto Sans SC"/>
                <a:ea typeface="Noto Sans SC"/>
              </a:rPr>
              <a:t>03 · MITIGATED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877300" y="4238625"/>
            <a:ext cx="24003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2E2A27"/>
                </a:solidFill>
                <a:latin typeface="Noto Serif SC"/>
                <a:ea typeface="Noto Serif SC"/>
              </a:rPr>
              <a:t>流式是块状的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877300" y="4676775"/>
            <a:ext cx="2400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Mercury </a:t>
            </a: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一次吐</a:t>
            </a:r>
            <a:r>
              <a:rPr lang="en-US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2–4 </a:t>
            </a: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块。前端按</a:t>
            </a:r>
            <a:r>
              <a:rPr lang="en-US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 xml:space="preserve"> 12ms/</a:t>
            </a:r>
            <a:r>
              <a:rPr lang="zh-CN" sz="1200">
                <a:solidFill>
                  <a:srgbClr val="2E2A27">
                    <a:alpha val="80000"/>
                  </a:srgbClr>
                </a:solidFill>
                <a:latin typeface="Noto Sans SC"/>
                <a:ea typeface="Noto Sans SC"/>
              </a:rPr>
              <a:t>字补间，后端不做假延迟。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877300" y="57054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C8C"/>
                </a:solidFill>
                <a:latin typeface="Noto Sans SC"/>
                <a:ea typeface="Noto Sans SC"/>
              </a:rPr>
              <a:t>纯前端问题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15675" y="64865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5000"/>
                  </a:srgbClr>
                </a:solidFill>
                <a:latin typeface="Noto Sans SC"/>
                <a:ea typeface="Noto Sans SC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width: 1280, height: 720, background: '#FBF7F2', padding: 0, position: 'relative', fontFamily: &quot;'Noto Sans SC', system-ui, sans-serif&quot; }}&gt;&#13;&#10;&#13;&#10;    &lt;Box style={{ position: 'absolute', left: 0, top: 0, width: 1280, height: 720, alignItems: 'center', justifyContent: 'center' }}&gt;&#13;&#10;&#13;&#10;        &lt;Text style={{ fontSize: 15, letterSpacing: '0.2em', color: '#6E7C8C', marginBottom: 30 }}&gt;&#13;&#10;            TAKEAWAY&#13;&#10;        &lt;/Text&gt;&#13;&#10;&#13;&#10;        &lt;Text style={{ fontSize: 62, fontWeight: 'bold', fontFamily: &quot;'Noto Serif SC', Georgia, serif&quot;, color: '#2E2A27', lineHeight: 1.25, textAlign: 'center', letterSpacing: '0.01em' }}&gt;&#13;&#10;            把不确定性挡在模型之外&#13;&#10;        &lt;/Text&gt;&#13;&#10;&#13;&#10;        &lt;Box style={{ width: 64, height: 3, background: '#C0765C', marginTop: 34, marginBottom: 34 }} /&gt;&#13;&#10;&#13;&#10;        &lt;Text style={{ fontSize: 19, color: 'rgba(46,42,39,0.70)', lineHeight: 1.75, textAlign: 'center', width: 660 }}&gt;&#13;&#10;            凡是不能出错的判断，都不要交给模型。诊断、药量、危机话术、电话号码——全部落成代码里的确定性。&#13;&#10;        &lt;/Text&gt;&#13;&#10;&#13;&#10;        {/* 三个数字 */}&#13;&#10;        &lt;Box style={{ flexDirection: 'row', alignItems: 'flex-start', gap: 0, marginTop: 62 }}&gt;&#13;&#10;&#13;&#10;            &lt;Box style={{ width: 230, alignItems: 'center' }}&gt;&#13;&#10;                &lt;Text style={{ fontSize: 56, fontWeight: 'bold', fontFamily: &quot;'Noto Serif SC', Georgia, serif&quot;, color: '#C0765C', lineHeight: 1.0 }}&gt;0&lt;/Text&gt;&#13;&#10;                &lt;Text style={{ fontSize: 14, color: 'rgba(46,42,39,0.58)', marginTop: 12, textAlign: 'center' }}&gt;危机路径调用模型&lt;/Text&gt;&#13;&#10;            &lt;/Box&gt;&#13;&#10;&#13;&#10;            &lt;Box style={{ width: 1, height: 74, background: 'rgba(46,42,39,0.14)' }} /&gt;&#13;&#10;&#13;&#10;            &lt;Box style={{ width: 230, alignItems: 'center' }}&gt;&#13;&#10;                &lt;Text style={{ fontSize: 56, fontWeight: 'bold', fontFamily: &quot;'Noto Serif SC', Georgia, serif&quot;, color: '#C0765C', lineHeight: 1.0 }}&gt;116&lt;/Text&gt;&#13;&#10;                &lt;Text style={{ fontSize: 14, color: 'rgba(46,42,39,0.58)', marginTop: 12, textAlign: 'center' }}&gt;条测试&lt;/Text&gt;&#13;&#10;            &lt;/Box&gt;&#13;&#10;&#13;&#10;            &lt;Box style={{ width: 1, height: 74, background: 'rgba(46,42,39,0.14)' }} /&gt;&#13;&#10;&#13;&#10;            &lt;Box style={{ width: 230, alignItems: 'center' }}&gt;&#13;&#10;                &lt;Text style={{ fontSize: 56, fontWeight: 'bold', fontFamily: &quot;'Noto Serif SC', Georgia, serif&quot;, color: '#C0765C', lineHeight: 1.0 }}&gt;72&lt;/Text&gt;&#13;&#10;                &lt;Text style={{ fontSize: 14, color: 'rgba(46,42,39,0.58)', marginTop: 12, textAlign: 'center' }}&gt;个知识库块&lt;/Text&gt;&#13;&#10;            &lt;/Box&gt;&#13;&#10;&#13;&#10;        &lt;/Box&gt;&#13;&#10;&#13;&#10;    &lt;/Box&gt;&#13;&#10;&#13;&#10;    {/* 落款 */}&#13;&#10;    &lt;Box style={{ position: 'absolute', left: 0, bottom: 44, width: 1280, alignItems: 'center' }}&gt;&#13;&#10;        &lt;Text style={{ fontSize: 14, color: 'rgba(46,42,39,0.42)', letterSpacing: '0.06em' }}&gt;&#13;&#10;            github.com/dmllpj46-ship-it/xinyu-bot　·　xinyu-bot.poetfangnimagoupi.workers.dev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62625" y="12858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E7C8C"/>
                </a:solidFill>
                <a:latin typeface="Noto Sans SC"/>
                <a:ea typeface="Noto Sans SC"/>
              </a:rPr>
              <a:t>TAKEAWAY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847975" y="1743075"/>
            <a:ext cx="6496050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>
                <a:solidFill>
                  <a:srgbClr val="2E2A27"/>
                </a:solidFill>
                <a:latin typeface="Noto Serif SC"/>
                <a:ea typeface="Noto Serif SC"/>
              </a:rPr>
              <a:t>把不确定性挡在模型之外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791200" y="2952750"/>
            <a:ext cx="609600" cy="28575"/>
          </a:xfrm>
          <a:prstGeom prst="rect">
            <a:avLst/>
          </a:prstGeom>
          <a:solidFill>
            <a:srgbClr val="C0765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952750" y="3305175"/>
            <a:ext cx="6286500" cy="7620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5000"/>
              </a:lnSpc>
            </a:pPr>
            <a:r>
              <a:rPr lang="zh-CN" sz="1425">
                <a:solidFill>
                  <a:srgbClr val="2E2A27">
                    <a:alpha val="70000"/>
                  </a:srgbClr>
                </a:solidFill>
                <a:latin typeface="Noto Sans SC"/>
                <a:ea typeface="Noto Sans SC"/>
              </a:rPr>
              <a:t>凡是不能出错的判断，都不要交给模型。诊断、药量、危机话术、电话号码——全部落成代码里的确定性。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752850" y="4657725"/>
            <a:ext cx="2952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0765C"/>
                </a:solidFill>
                <a:latin typeface="Noto Serif SC"/>
                <a:ea typeface="Noto Serif SC"/>
              </a:rPr>
              <a:t>0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362325" y="5419725"/>
            <a:ext cx="10668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58000"/>
                  </a:srgbClr>
                </a:solidFill>
                <a:latin typeface="Noto Sans SC"/>
                <a:ea typeface="Noto Sans SC"/>
              </a:rPr>
              <a:t>危机路径调用模型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991100" y="4657725"/>
            <a:ext cx="9525" cy="704850"/>
          </a:xfrm>
          <a:prstGeom prst="rect">
            <a:avLst/>
          </a:prstGeom>
          <a:solidFill>
            <a:srgbClr val="2E2A27">
              <a:alpha val="14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695950" y="4657725"/>
            <a:ext cx="800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0765C"/>
                </a:solidFill>
                <a:latin typeface="Noto Serif SC"/>
                <a:ea typeface="Noto Serif SC"/>
              </a:rPr>
              <a:t>116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895975" y="5419725"/>
            <a:ext cx="4000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58000"/>
                  </a:srgbClr>
                </a:solidFill>
                <a:latin typeface="Noto Sans SC"/>
                <a:ea typeface="Noto Sans SC"/>
              </a:rPr>
              <a:t>条测试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191375" y="4657725"/>
            <a:ext cx="9525" cy="704850"/>
          </a:xfrm>
          <a:prstGeom prst="rect">
            <a:avLst/>
          </a:prstGeom>
          <a:solidFill>
            <a:srgbClr val="2E2A27">
              <a:alpha val="14000"/>
            </a:srgbClr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10525" y="4657725"/>
            <a:ext cx="581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0765C"/>
                </a:solidFill>
                <a:latin typeface="Noto Serif SC"/>
                <a:ea typeface="Noto Serif SC"/>
              </a:rPr>
              <a:t>72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962900" y="5419725"/>
            <a:ext cx="6667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2E2A27">
                    <a:alpha val="58000"/>
                  </a:srgbClr>
                </a:solidFill>
                <a:latin typeface="Noto Sans SC"/>
                <a:ea typeface="Noto Sans SC"/>
              </a:rPr>
              <a:t>个知识库块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533775" y="62769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E2A27">
                    <a:alpha val="42000"/>
                  </a:srgbClr>
                </a:solidFill>
                <a:latin typeface="Noto Sans SC"/>
                <a:ea typeface="Noto Sans SC"/>
              </a:rPr>
              <a:t>github.com/dmllpj46-ship-it/xinyu-bot</a:t>
            </a:r>
            <a:r>
              <a:rPr lang="zh-CN" sz="1050">
                <a:solidFill>
                  <a:srgbClr val="2E2A27">
                    <a:alpha val="42000"/>
                  </a:srgbClr>
                </a:solidFill>
                <a:latin typeface="Noto Sans SC"/>
                <a:ea typeface="Noto Sans SC"/>
              </a:rPr>
              <a:t>　·　</a:t>
            </a:r>
            <a:r>
              <a:rPr lang="en-US" sz="1050">
                <a:solidFill>
                  <a:srgbClr val="2E2A27">
                    <a:alpha val="42000"/>
                  </a:srgbClr>
                </a:solidFill>
                <a:latin typeface="Noto Sans SC"/>
                <a:ea typeface="Noto Sans SC"/>
              </a:rPr>
              <a:t>xinyu-bot.poetfangnimagoupi.workers.dev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2026-10-25T10:43:50Z</dcterms:created>
  <dcterms:modified xsi:type="dcterms:W3CDTF">2026-10-25T10:43:50Z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{"AIGC":{"Label":"1","ContentProducer":"00119111010856365494821B355","ProduceID":"01a170e4ceda73a68f9613cab1e9eab4","ReservedCode1":"","ContentPropagator":"00119111010856365494821B355","PropagateID":"01a170e4ceda73a68f9613cab1e9eab4","ReservedCode2":""}}</vt:lpwstr>
  </property>
</Properties>
</file>